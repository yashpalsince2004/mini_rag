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6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305" r:id="rId11"/>
    <p:sldId id="265" r:id="rId12"/>
    <p:sldId id="266" r:id="rId13"/>
    <p:sldId id="350" r:id="rId14"/>
    <p:sldId id="351" r:id="rId15"/>
    <p:sldId id="352" r:id="rId16"/>
    <p:sldId id="306" r:id="rId17"/>
    <p:sldId id="366" r:id="rId18"/>
    <p:sldId id="367" r:id="rId19"/>
    <p:sldId id="368" r:id="rId20"/>
    <p:sldId id="267" r:id="rId21"/>
    <p:sldId id="268" r:id="rId22"/>
    <p:sldId id="270" r:id="rId23"/>
    <p:sldId id="269" r:id="rId24"/>
    <p:sldId id="369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7" r:id="rId59"/>
    <p:sldId id="372" r:id="rId60"/>
    <p:sldId id="373" r:id="rId61"/>
    <p:sldId id="374" r:id="rId62"/>
    <p:sldId id="375" r:id="rId63"/>
    <p:sldId id="376" r:id="rId64"/>
    <p:sldId id="377" r:id="rId65"/>
    <p:sldId id="304" r:id="rId66"/>
  </p:sldIdLst>
  <p:sldSz cx="18288000" cy="10287000"/>
  <p:notesSz cx="6858000" cy="9144000"/>
  <p:embeddedFontLst>
    <p:embeddedFont>
      <p:font typeface="Canva Sans" panose="020B0604020202020204" charset="0"/>
      <p:regular r:id="rId68"/>
    </p:embeddedFont>
    <p:embeddedFont>
      <p:font typeface="Canva Sans Bold" panose="020B0604020202020204" charset="0"/>
      <p:regular r:id="rId69"/>
    </p:embeddedFont>
    <p:embeddedFont>
      <p:font typeface="Fraunces" panose="020B0604020202020204" charset="0"/>
      <p:regular r:id="rId70"/>
    </p:embeddedFont>
    <p:embeddedFont>
      <p:font typeface="Fraunces Bold" panose="020B0604020202020204" charset="0"/>
      <p:regular r:id="rId71"/>
    </p:embeddedFont>
    <p:embeddedFont>
      <p:font typeface="Playpen Sans"/>
      <p:regular r:id="rId72"/>
    </p:embeddedFont>
    <p:embeddedFont>
      <p:font typeface="Playpen Sans Bold" panose="020B0604020202020204" charset="0"/>
      <p:regular r:id="rId7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font" Target="fonts/font1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font" Target="fonts/font2.fntdata"/><Relationship Id="rId77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font" Target="fonts/font3.fntdata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60C4A-8F2A-41CF-A770-689354C8F357}" type="datetimeFigureOut">
              <a:rPr lang="en-IN" smtClean="0"/>
              <a:t>04-07-2026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6BE9F8-1EF9-477D-82A7-5F1A6EA236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03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65AFC-9286-F724-4BF9-9ECF6FF9D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86947-D798-FE0E-A2E6-278B42F7E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95E96E-1354-410F-8ABE-56A533DD7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17B67-31AC-2547-4A0E-AD105EA9F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9F376-C6F5-46E5-ABDE-2EE95E85C9E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530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DD64-4BB8-AB3B-83E4-1FD25B196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0A0AB-42E0-CCF3-BA1F-955FDB35B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72983-010A-04C7-E55C-C653177CD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A95E7-90F9-6E9C-E1BA-0219287DF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9F376-C6F5-46E5-ABDE-2EE95E85C9E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062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6F7FF-2499-7E54-D315-E664F93F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B9051B-3CD4-09A6-4389-CA0C5DCD9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6130C5-9E89-83BD-E970-759B9A847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C1A6F-8813-F79E-7756-B0539E7B61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C9F376-C6F5-46E5-ABDE-2EE95E85C9E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313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3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190313" y="1645920"/>
            <a:ext cx="14482564" cy="6621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CHAPTER 1</a:t>
            </a: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AI TOOLS</a:t>
            </a:r>
          </a:p>
          <a:p>
            <a:pPr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  <a:p>
            <a:pPr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AND</a:t>
            </a:r>
          </a:p>
          <a:p>
            <a:pPr algn="ctr">
              <a:lnSpc>
                <a:spcPts val="6509"/>
              </a:lnSpc>
            </a:pPr>
            <a:endParaRPr lang="en-US" sz="6999" u="sng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lvl="0" indent="0"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PROMPT ENGINEERING</a:t>
            </a: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9E9D3C-9726-CE20-7F03-E89E352850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1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680808" y="210246"/>
            <a:ext cx="9988273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INTRODUCTION TO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06995" y="1722791"/>
            <a:ext cx="17381005" cy="7957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stands for Artificial Intelligence 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Artificial means Human generated and Intelligence means Smart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is nothing but Artificial Intelligence which convert normal machine into smart machine by adding the ability to think like human.</a:t>
            </a:r>
          </a:p>
          <a:p>
            <a:pPr algn="l">
              <a:lnSpc>
                <a:spcPts val="5176"/>
              </a:lnSpc>
            </a:pPr>
            <a:endParaRPr lang="en-US" sz="3697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5176"/>
              </a:lnSpc>
            </a:pPr>
            <a:r>
              <a:rPr lang="en-US" sz="36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 Machine</a:t>
            </a: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Machine that do not have thinking ability 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Eg: washing machine, normal bulb, fans, computers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also called as Non-AI oriented machine</a:t>
            </a:r>
          </a:p>
          <a:p>
            <a:pPr algn="l">
              <a:lnSpc>
                <a:spcPts val="5176"/>
              </a:lnSpc>
            </a:pPr>
            <a:endParaRPr lang="en-US" sz="369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5176"/>
              </a:lnSpc>
            </a:pPr>
            <a:r>
              <a:rPr lang="en-US" sz="36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Smart Machine</a:t>
            </a: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Machine that have thinking ability like human. 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Eg: Alexa, Siri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also called as AI oriented machine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A42E5-9B67-747A-46F0-3D584C56CE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1430000" y="4004238"/>
            <a:ext cx="5715000" cy="1600200"/>
          </a:xfrm>
          <a:custGeom>
            <a:avLst/>
            <a:gdLst/>
            <a:ahLst/>
            <a:cxnLst/>
            <a:rect l="l" t="t" r="r" b="b"/>
            <a:pathLst>
              <a:path w="7130211" h="4753474">
                <a:moveTo>
                  <a:pt x="0" y="0"/>
                </a:moveTo>
                <a:lnTo>
                  <a:pt x="7130211" y="0"/>
                </a:lnTo>
                <a:lnTo>
                  <a:pt x="7130211" y="4753474"/>
                </a:lnTo>
                <a:lnTo>
                  <a:pt x="0" y="47534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50" t="-17676" r="-3408" b="-146714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5"/>
          <p:cNvSpPr txBox="1"/>
          <p:nvPr/>
        </p:nvSpPr>
        <p:spPr>
          <a:xfrm>
            <a:off x="3804882" y="201052"/>
            <a:ext cx="11048999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Human Intelligence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0074" y="1918199"/>
            <a:ext cx="16352270" cy="123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8"/>
              </a:lnSpc>
              <a:spcBef>
                <a:spcPct val="0"/>
              </a:spcBef>
            </a:pPr>
            <a:r>
              <a:rPr lang="en-US" sz="3513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Human Intelligence is the ability of humans to think, learn, understand, solve problems, make decisions, and use experience in daily life.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97755" y="3677779"/>
            <a:ext cx="10225803" cy="2703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5165" lvl="1" indent="-332583" algn="l">
              <a:lnSpc>
                <a:spcPts val="4313"/>
              </a:lnSpc>
              <a:buFont typeface="Arial"/>
              <a:buChar char="•"/>
            </a:pPr>
            <a:r>
              <a:rPr lang="en-US" sz="308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Can think and reason.</a:t>
            </a:r>
          </a:p>
          <a:p>
            <a:pPr marL="665165" lvl="1" indent="-332583" algn="l">
              <a:lnSpc>
                <a:spcPts val="4313"/>
              </a:lnSpc>
              <a:buFont typeface="Arial"/>
              <a:buChar char="•"/>
            </a:pPr>
            <a:r>
              <a:rPr lang="en-US" sz="308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Learns from experience and mistakes.</a:t>
            </a:r>
          </a:p>
          <a:p>
            <a:pPr marL="665165" lvl="1" indent="-332583" algn="l">
              <a:lnSpc>
                <a:spcPts val="4313"/>
              </a:lnSpc>
              <a:buFont typeface="Arial"/>
              <a:buChar char="•"/>
            </a:pPr>
            <a:r>
              <a:rPr lang="en-US" sz="308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Understands emotions and feelings.</a:t>
            </a:r>
          </a:p>
          <a:p>
            <a:pPr marL="665165" lvl="1" indent="-332583" algn="l">
              <a:lnSpc>
                <a:spcPts val="4313"/>
              </a:lnSpc>
              <a:buFont typeface="Arial"/>
              <a:buChar char="•"/>
            </a:pPr>
            <a:r>
              <a:rPr lang="en-US" sz="308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Can be creative and generate new ideas.</a:t>
            </a:r>
          </a:p>
          <a:p>
            <a:pPr marL="665165" lvl="1" indent="-332583" algn="l">
              <a:lnSpc>
                <a:spcPts val="4313"/>
              </a:lnSpc>
              <a:buFont typeface="Arial"/>
              <a:buChar char="•"/>
            </a:pPr>
            <a:r>
              <a:rPr lang="en-US" sz="308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Makes decisions based on knowledge and judgment.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7353300"/>
            <a:ext cx="13030200" cy="13137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Example: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 student learns from a mistake in a test and studies differently for the next exam. This is an example of Human Intelligence.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430000" y="5696117"/>
            <a:ext cx="584656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Guess  The Emojis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C19473-5CCA-0BDD-1A3F-9F17FEDF57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886148" y="210576"/>
            <a:ext cx="8825508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Safe Search Method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19400" y="3162300"/>
            <a:ext cx="16496062" cy="3601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Ask learning-related questions only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Do not share personal information 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Use respectful and appropriate language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Check important information</a:t>
            </a:r>
          </a:p>
          <a:p>
            <a:pPr marL="863595" lvl="1" indent="-431797" algn="just">
              <a:lnSpc>
                <a:spcPts val="5599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Ask an adult if something feels wrong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B5BC6C-2AA6-4EEC-C49A-393B65B5A0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610298" y="537527"/>
            <a:ext cx="1048240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AI not Always Correct??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9181" y="1657350"/>
            <a:ext cx="16982761" cy="8043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learns from large amounts of data, but it does not truly understand information like humans do.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Reasons AI Can Be Wrong: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may use incorrect or outdated information.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cannot think or reason like humans.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may misunderstand a question.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sometimes makes up answers. This is called </a:t>
            </a: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Hallucination.</a:t>
            </a:r>
          </a:p>
          <a:p>
            <a:pPr marL="323850" lvl="1" algn="l">
              <a:lnSpc>
                <a:spcPts val="4200"/>
              </a:lnSpc>
            </a:pPr>
            <a:endParaRPr lang="en-US" sz="3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is AI Hallucination?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Hallucination happens when AI gives information that sounds correct but is actually wrong or made up.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says a book was written by a certain author, but in reality, that author never wrote the book.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Important  Key Rule: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Always verify important AI answers with your teacher, textbook, or trusted sources.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B11A65-71EE-82F9-84BC-0D1DE2FE63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1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81000" y="560750"/>
            <a:ext cx="495153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689767"/>
            <a:ext cx="11544300" cy="11804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Where we used AI in day-to-day life 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Can AI solve your difficult Math problems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" y="2965351"/>
            <a:ext cx="81050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Terminologies of 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090624"/>
            <a:ext cx="16777155" cy="578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is a collection of facts, numbers, images, words, or information that can be used to learn something.</a:t>
            </a:r>
          </a:p>
          <a:p>
            <a:pPr algn="l">
              <a:lnSpc>
                <a:spcPts val="139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Set of data (Training + Testing)</a:t>
            </a:r>
          </a:p>
          <a:p>
            <a:pPr algn="l">
              <a:lnSpc>
                <a:spcPts val="139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Training Data: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 given to AI to train their brain </a:t>
            </a:r>
          </a:p>
          <a:p>
            <a:pPr algn="l">
              <a:lnSpc>
                <a:spcPts val="139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Testing Data: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given to AI to test their brain</a:t>
            </a:r>
          </a:p>
          <a:p>
            <a:pPr algn="l">
              <a:lnSpc>
                <a:spcPts val="139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Algorithm: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set of steps or instructions that a computer follows to solve a problem. It is used to train the Brain of AI</a:t>
            </a:r>
          </a:p>
          <a:p>
            <a:pPr algn="l">
              <a:lnSpc>
                <a:spcPts val="139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Prediction: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Generated Result or output guess by AI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0A3FFEC-363B-F646-794F-181917F1E4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0966406" y="2927382"/>
            <a:ext cx="7018326" cy="7018326"/>
          </a:xfrm>
          <a:custGeom>
            <a:avLst/>
            <a:gdLst/>
            <a:ahLst/>
            <a:cxnLst/>
            <a:rect l="l" t="t" r="r" b="b"/>
            <a:pathLst>
              <a:path w="7018326" h="7018326">
                <a:moveTo>
                  <a:pt x="0" y="0"/>
                </a:moveTo>
                <a:lnTo>
                  <a:pt x="7018326" y="0"/>
                </a:lnTo>
                <a:lnTo>
                  <a:pt x="7018326" y="7018326"/>
                </a:lnTo>
                <a:lnTo>
                  <a:pt x="0" y="7018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799538" y="537527"/>
            <a:ext cx="651566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Subset Of AI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689767"/>
            <a:ext cx="13693378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 previous slides we learned about AI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Now Let’s shortly understands what are the subset (subfield) of AI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9538" y="3638102"/>
            <a:ext cx="9959828" cy="4267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AI that allows computers to learn from data (Deep Drive-in next slide)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NLP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: It stands for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Natural Language Processing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which allows AI to understand the Human Language like slang, phrases and proverbs. (Deep Drive-in next slide)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AC1B9E-7442-45CD-2627-62B186A830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270601" y="365125"/>
            <a:ext cx="805660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3233" y="2010386"/>
            <a:ext cx="1676153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Machine Learning is a type of AI that allows computers to learn from data and improve automatically without being specifically programmed every time.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3233" y="3638526"/>
            <a:ext cx="12823865" cy="348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Learns from examples and data.</a:t>
            </a:r>
          </a:p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Improves performance with experience.</a:t>
            </a:r>
          </a:p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Finds patterns in information.</a:t>
            </a:r>
          </a:p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Helps computers make predictions and decisions.</a:t>
            </a:r>
          </a:p>
          <a:p>
            <a:pPr marL="863599" lvl="1" indent="-431800" algn="l">
              <a:lnSpc>
                <a:spcPts val="5599"/>
              </a:lnSpc>
              <a:buAutoNum type="arabicPeriod"/>
            </a:pPr>
            <a:r>
              <a:rPr lang="en-US" sz="3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Becomes smarter as more data is provided.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51140" y="7834546"/>
            <a:ext cx="1035746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 2, 3, 5, 7, 11, ??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E4E579E-C1ED-B709-B681-0B8410FAD4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08B18-B28A-31DE-34D3-1D1937AF4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9D6CF2-6A3B-85EC-BBDC-2068D6BB50F4}"/>
              </a:ext>
            </a:extLst>
          </p:cNvPr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F9F0B8C-547B-322F-F5E9-41D82C0B0721}"/>
              </a:ext>
            </a:extLst>
          </p:cNvPr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975941-09C1-E48D-57AB-08BD97788749}"/>
              </a:ext>
            </a:extLst>
          </p:cNvPr>
          <p:cNvSpPr txBox="1"/>
          <p:nvPr/>
        </p:nvSpPr>
        <p:spPr>
          <a:xfrm>
            <a:off x="4191000" y="4856"/>
            <a:ext cx="10584003" cy="1101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50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Natural Language Processing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283EDE3F-1E46-EFD8-DAF7-B916F9D1F859}"/>
              </a:ext>
            </a:extLst>
          </p:cNvPr>
          <p:cNvSpPr txBox="1"/>
          <p:nvPr/>
        </p:nvSpPr>
        <p:spPr>
          <a:xfrm>
            <a:off x="716379" y="1501678"/>
            <a:ext cx="16761534" cy="1814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IN" sz="3600" b="1" dirty="0"/>
              <a:t>Natural Language Processing (NLP) is a branch of Artificial Intelligence (AI) that helps computers understand, read, write, and respond to human language like English, Hindi, or Marathi.</a:t>
            </a: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FCDCFC1-5A21-AA4F-9FBA-B219A8B77E20}"/>
              </a:ext>
            </a:extLst>
          </p:cNvPr>
          <p:cNvSpPr txBox="1"/>
          <p:nvPr/>
        </p:nvSpPr>
        <p:spPr>
          <a:xfrm>
            <a:off x="228600" y="3315764"/>
            <a:ext cx="16915167" cy="35448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63599" lvl="1" indent="-431800">
              <a:lnSpc>
                <a:spcPts val="5599"/>
              </a:lnSpc>
              <a:buAutoNum type="arabicPeriod"/>
            </a:pPr>
            <a:r>
              <a:rPr lang="en-IN" sz="4000" dirty="0"/>
              <a:t> NLP finds keywords in your text</a:t>
            </a:r>
          </a:p>
          <a:p>
            <a:pPr marL="863599" lvl="1" indent="-431800">
              <a:lnSpc>
                <a:spcPts val="5599"/>
              </a:lnSpc>
              <a:buAutoNum type="arabicPeriod"/>
            </a:pPr>
            <a:r>
              <a:rPr lang="en-US" sz="4000" dirty="0">
                <a:solidFill>
                  <a:srgbClr val="000000"/>
                </a:solidFill>
                <a:ea typeface="Fraunces"/>
                <a:cs typeface="Fraunces"/>
                <a:sym typeface="Fraunces"/>
              </a:rPr>
              <a:t> NLP understand the language which you speak and give answer in that language</a:t>
            </a:r>
          </a:p>
          <a:p>
            <a:pPr marL="863599" lvl="1" indent="-431800">
              <a:lnSpc>
                <a:spcPts val="5599"/>
              </a:lnSpc>
              <a:buAutoNum type="arabicPeriod"/>
            </a:pPr>
            <a:r>
              <a:rPr lang="en-IN" sz="4000" dirty="0"/>
              <a:t>Google Assistant, Siri, Alexa, or ChatGPT understands your question and gives you an answer.</a:t>
            </a:r>
            <a:endParaRPr lang="en-US" sz="4000" dirty="0">
              <a:solidFill>
                <a:srgbClr val="000000"/>
              </a:solidFill>
              <a:ea typeface="Fraunces"/>
              <a:cs typeface="Fraunces"/>
              <a:sym typeface="Fraunce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7FA7D34-74D5-CBE5-016C-186F635563F5}"/>
              </a:ext>
            </a:extLst>
          </p:cNvPr>
          <p:cNvSpPr txBox="1"/>
          <p:nvPr/>
        </p:nvSpPr>
        <p:spPr>
          <a:xfrm>
            <a:off x="630507" y="7219146"/>
            <a:ext cx="16513260" cy="2706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 Identify the keyword</a:t>
            </a:r>
          </a:p>
          <a:p>
            <a:pPr>
              <a:lnSpc>
                <a:spcPts val="7279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 want to go to school</a:t>
            </a:r>
          </a:p>
          <a:p>
            <a:pPr>
              <a:lnSpc>
                <a:spcPts val="7279"/>
              </a:lnSpc>
            </a:pPr>
            <a:r>
              <a:rPr lang="en-US" sz="4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is the machine that have ability to think like human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EFA5FF-3515-3708-A258-8DBBE37441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2" y="3493253"/>
            <a:ext cx="10287003" cy="3300494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931325" y="537527"/>
            <a:ext cx="1042535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How AI learn From Examples??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9655" y="2390475"/>
            <a:ext cx="15699645" cy="6362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0" lvl="1" indent="-485775" algn="l">
              <a:lnSpc>
                <a:spcPts val="6299"/>
              </a:lnSpc>
              <a:buAutoNum type="arabicPeriod"/>
            </a:pPr>
            <a:r>
              <a:rPr lang="en-US" sz="4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It is shown many input–output examples (training data)</a:t>
            </a:r>
          </a:p>
          <a:p>
            <a:pPr marL="971550" lvl="1" indent="-485775" algn="l">
              <a:lnSpc>
                <a:spcPts val="6299"/>
              </a:lnSpc>
              <a:buAutoNum type="arabicPeriod"/>
            </a:pPr>
            <a:r>
              <a:rPr lang="en-US" sz="4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It finds patterns and relationships in the data</a:t>
            </a:r>
          </a:p>
          <a:p>
            <a:pPr marL="971550" lvl="1" indent="-485775" algn="l">
              <a:lnSpc>
                <a:spcPts val="6299"/>
              </a:lnSpc>
              <a:buAutoNum type="arabicPeriod"/>
            </a:pPr>
            <a:r>
              <a:rPr lang="en-US" sz="4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It builds a model based on those patterns</a:t>
            </a:r>
          </a:p>
          <a:p>
            <a:pPr marL="971550" lvl="1" indent="-485775" algn="l">
              <a:lnSpc>
                <a:spcPts val="6299"/>
              </a:lnSpc>
              <a:buAutoNum type="arabicPeriod"/>
            </a:pPr>
            <a:r>
              <a:rPr lang="en-US" sz="4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When new data comes, it predicts the output using what it learned</a:t>
            </a:r>
          </a:p>
          <a:p>
            <a:pPr marL="971550" lvl="1" indent="-485775" algn="l">
              <a:lnSpc>
                <a:spcPts val="6299"/>
              </a:lnSpc>
              <a:buAutoNum type="arabicPeriod"/>
            </a:pPr>
            <a:r>
              <a:rPr lang="en-US" sz="4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 The more examples it sees, the better it gets at predicting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1E5A9B-2BDC-AD4D-8A17-5DCDAE32E8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1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237922" y="212725"/>
            <a:ext cx="57359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NotebookLM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7994" y="1492250"/>
            <a:ext cx="16552013" cy="712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 is an AI-powered note-taking and research tool by Google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Helps you understand and summarize your documents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You can upload PDFs, Google Docs, notes, and text files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 creates an AI assistant based only on your uploaded content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You can ask questions from your documents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 gives summaries, explanations, and key points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 helps in studying, research, and content writing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 reduces time spent on reading long documents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Responses are based on your sources, so it is more focused and reliable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1F6ACD-91D6-0EB8-5338-1EDD403AEF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A871B-17F4-2755-2D24-D3A520921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65E5EB-DABC-73E5-8CE5-508B33A85D7A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643C38-5FBD-4593-F381-614CF18518F2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FDEF25A-2DA6-A6A6-49E0-E35E278DB6DE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25522A0-4011-1BB3-73BD-008EA88BD685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19FE02D-6E79-6D6D-42A3-D204A8EC0B9C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EDC06E6-3AAD-9164-FF35-8129A0DCF4A9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160CEC2-E883-E676-D930-264375C5867F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680BDBD-BFA9-81FE-265D-C553A61324EA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86CEB06-4C73-614A-F009-B140BB09A174}"/>
              </a:ext>
            </a:extLst>
          </p:cNvPr>
          <p:cNvSpPr txBox="1"/>
          <p:nvPr/>
        </p:nvSpPr>
        <p:spPr>
          <a:xfrm>
            <a:off x="682150" y="981075"/>
            <a:ext cx="17290743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 err="1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NotebookLM</a:t>
            </a:r>
            <a:endParaRPr lang="en-US" sz="4999" b="1" dirty="0">
              <a:solidFill>
                <a:srgbClr val="0081B8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2D593B-7470-3440-824D-7095B38E3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7981" y="2165596"/>
            <a:ext cx="14369819" cy="686410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BFCF73-FC05-8E92-07D2-980F484645E8}"/>
              </a:ext>
            </a:extLst>
          </p:cNvPr>
          <p:cNvSpPr/>
          <p:nvPr/>
        </p:nvSpPr>
        <p:spPr>
          <a:xfrm>
            <a:off x="5029200" y="3924300"/>
            <a:ext cx="3276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Add Your Source here</a:t>
            </a:r>
            <a:endParaRPr lang="en-IN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E3BC1B7-BA80-3070-4DBF-B01287DAB8D7}"/>
              </a:ext>
            </a:extLst>
          </p:cNvPr>
          <p:cNvSpPr/>
          <p:nvPr/>
        </p:nvSpPr>
        <p:spPr>
          <a:xfrm>
            <a:off x="12897734" y="3390900"/>
            <a:ext cx="3276600" cy="53340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Get output from below tabs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83BF76F-A545-84B3-24FC-737DC5B281A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228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2E7C2D-1052-534C-2125-FC4C69DF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E3961E-EBC5-846A-AD9E-2556F05E1B07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48186AC-127D-0CE1-1172-8730210AA683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5E244F6-4AEC-40A4-8DA2-D201BBD4A702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DF1422E-F0F2-B60E-9505-C555F052C7AC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19CD3B38-533E-C979-7F02-65CCE540DA75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CF8A36-86A6-50A5-767F-E81DDC52DF0F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434CC9A-EA66-5CB2-A634-AC411BA10981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9A8F0F4-4264-2ECA-2BD6-DE596292DD1F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B057487-8968-C009-2B34-314F97E4F151}"/>
              </a:ext>
            </a:extLst>
          </p:cNvPr>
          <p:cNvSpPr txBox="1"/>
          <p:nvPr/>
        </p:nvSpPr>
        <p:spPr>
          <a:xfrm>
            <a:off x="682150" y="981075"/>
            <a:ext cx="17290743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 err="1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NotebookLM</a:t>
            </a:r>
            <a:endParaRPr lang="en-US" sz="4999" b="1" dirty="0">
              <a:solidFill>
                <a:srgbClr val="0081B8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1E5008-4B21-F6CC-D149-0A897DEE7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1613" y="2239282"/>
            <a:ext cx="7946678" cy="699276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837EDFC-546B-D456-1FF8-D4C8A26768C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1662" t="2069" r="1662" b="-2069"/>
          <a:stretch>
            <a:fillRect/>
          </a:stretch>
        </p:blipFill>
        <p:spPr>
          <a:xfrm>
            <a:off x="9836658" y="2274235"/>
            <a:ext cx="7290732" cy="70316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2C2F9FC9-E145-688F-A752-372641B76722}"/>
              </a:ext>
            </a:extLst>
          </p:cNvPr>
          <p:cNvSpPr/>
          <p:nvPr/>
        </p:nvSpPr>
        <p:spPr>
          <a:xfrm>
            <a:off x="12676615" y="4457700"/>
            <a:ext cx="1905000" cy="8430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Give sources as Websites</a:t>
            </a:r>
            <a:endParaRPr lang="en-IN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FB18B2-B72D-15C9-E571-FD45A13C8BB9}"/>
              </a:ext>
            </a:extLst>
          </p:cNvPr>
          <p:cNvSpPr/>
          <p:nvPr/>
        </p:nvSpPr>
        <p:spPr>
          <a:xfrm>
            <a:off x="12268200" y="6322533"/>
            <a:ext cx="1905000" cy="8430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Upload personal material</a:t>
            </a:r>
            <a:endParaRPr lang="en-IN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2A292D-D2B9-FC95-766F-6DB8DA16990C}"/>
              </a:ext>
            </a:extLst>
          </p:cNvPr>
          <p:cNvSpPr/>
          <p:nvPr/>
        </p:nvSpPr>
        <p:spPr>
          <a:xfrm>
            <a:off x="5538283" y="4457700"/>
            <a:ext cx="1752600" cy="8430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Fast or Deep Research</a:t>
            </a:r>
            <a:endParaRPr lang="en-IN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2B87DF-AF1B-A401-F54E-D8C19F1EC5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28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0B5710-8E6F-3F05-CFC2-AEE3BE575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012D62D-D637-C000-C78B-67C324B66C84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742753D-F257-1BCB-B0B4-1AAC8F811974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C80B588-3B25-C83E-35E9-99179B831BDE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9317669-9D7B-172C-C96B-CB5C17953AB8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50DF215-71DC-9ADE-95AA-AA1A3F3D0880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3E663F7-39B9-1F62-165F-8EFBDC147DEE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7A02041-5307-36E0-DAE0-FB1BA2DFD9A7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D71DE05-EC02-4277-C35B-627F7EA6147A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74E332-2387-5ADC-51C6-28AD8B35EE63}"/>
              </a:ext>
            </a:extLst>
          </p:cNvPr>
          <p:cNvSpPr txBox="1"/>
          <p:nvPr/>
        </p:nvSpPr>
        <p:spPr>
          <a:xfrm>
            <a:off x="682150" y="981075"/>
            <a:ext cx="17290743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4999" b="1" dirty="0" err="1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NotebookLM</a:t>
            </a:r>
            <a:endParaRPr lang="en-US" sz="4999" b="1" dirty="0">
              <a:solidFill>
                <a:srgbClr val="0081B8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8679F9B-D53B-3C8F-B92E-877F45AB4B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5167" y="2168525"/>
            <a:ext cx="11762833" cy="6327775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3102DC8-2F2A-51E4-4063-E0946609E22F}"/>
              </a:ext>
            </a:extLst>
          </p:cNvPr>
          <p:cNvSpPr/>
          <p:nvPr/>
        </p:nvSpPr>
        <p:spPr>
          <a:xfrm>
            <a:off x="6904570" y="3774317"/>
            <a:ext cx="4572000" cy="14478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You can control your source here and import only reputed websites to create quiz, summary, podcast  </a:t>
            </a:r>
            <a:r>
              <a:rPr lang="en-US" sz="2000" dirty="0" err="1"/>
              <a:t>etc</a:t>
            </a:r>
            <a:endParaRPr lang="en-IN" sz="2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E29B953-F425-E9B7-5E74-41C15742971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36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C3D0-F213-CEC3-903D-E71771F8F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7031257-638C-4A3B-D444-0F837F9F1CE8}"/>
              </a:ext>
            </a:extLst>
          </p:cNvPr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387D63D-6DAE-6119-3481-D412CA643164}"/>
              </a:ext>
            </a:extLst>
          </p:cNvPr>
          <p:cNvSpPr/>
          <p:nvPr/>
        </p:nvSpPr>
        <p:spPr>
          <a:xfrm rot="5400000" flipH="1" flipV="1">
            <a:off x="11494254" y="3493251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7983041-A02F-A047-0EA7-024706333A88}"/>
              </a:ext>
            </a:extLst>
          </p:cNvPr>
          <p:cNvSpPr txBox="1"/>
          <p:nvPr/>
        </p:nvSpPr>
        <p:spPr>
          <a:xfrm>
            <a:off x="6237922" y="212725"/>
            <a:ext cx="573595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Gamma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6B74C56-1BDF-833E-71A3-B560E3679764}"/>
              </a:ext>
            </a:extLst>
          </p:cNvPr>
          <p:cNvSpPr txBox="1"/>
          <p:nvPr/>
        </p:nvSpPr>
        <p:spPr>
          <a:xfrm>
            <a:off x="867994" y="1492250"/>
            <a:ext cx="16552013" cy="5699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algn="just">
              <a:lnSpc>
                <a:spcPts val="5599"/>
              </a:lnSpc>
            </a:pPr>
            <a:r>
              <a:rPr lang="en-IN" sz="4000" b="1" dirty="0"/>
              <a:t>Gamma is an AI-powered presentation tool that helps users create professional presentations, documents quickly using simple text prompts.</a:t>
            </a:r>
          </a:p>
          <a:p>
            <a:pPr marL="431799" lvl="1" algn="just">
              <a:lnSpc>
                <a:spcPts val="5599"/>
              </a:lnSpc>
            </a:pPr>
            <a:endParaRPr lang="en-IN" sz="4000" b="1" dirty="0"/>
          </a:p>
          <a:p>
            <a:pPr marL="431799" lvl="1" algn="just">
              <a:lnSpc>
                <a:spcPts val="5599"/>
              </a:lnSpc>
            </a:pPr>
            <a:r>
              <a:rPr lang="en-IN" sz="4000" b="1" dirty="0"/>
              <a:t>Features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IN" sz="4000" dirty="0"/>
              <a:t>AI creates presentations automatically. 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IN" sz="4000" dirty="0"/>
              <a:t>Professional templates and designs. 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IN" sz="4000" dirty="0"/>
              <a:t>Adds images and layouts automatically. 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IN" sz="4000" dirty="0"/>
              <a:t>Saves time and effort.</a:t>
            </a:r>
            <a:endParaRPr lang="en-US" sz="3999" b="1" dirty="0">
              <a:solidFill>
                <a:srgbClr val="000000"/>
              </a:solidFill>
              <a:latin typeface="Fraunces Bold"/>
              <a:ea typeface="Fraunces Bold"/>
              <a:cs typeface="Fraunces Bold"/>
              <a:sym typeface="Fraunces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811D90-D344-3511-73E9-0322328727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311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D6C1C-1B71-E204-FDB2-9CEB90A4E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5009770-320B-FD65-896F-D29E41FB2485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65FF3B-8371-B6BA-765E-FD824E7A506A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C0DEA72-DFF7-D5D9-C2E3-BD22230EE57C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755330F5-ECC2-1C3E-63F9-14DCAAB360FE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AB127CE-02EE-26F4-8CE2-A93DA0C19C71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5267FF7-FD52-38FB-1718-AA7B4C9E64FA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002127B-660F-7DB8-8138-2376697D2393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20F2C85-DCE4-D446-6159-00E93920400D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2DFAC39-28EE-9B2F-70E9-7C26DB64C47E}"/>
              </a:ext>
            </a:extLst>
          </p:cNvPr>
          <p:cNvSpPr txBox="1"/>
          <p:nvPr/>
        </p:nvSpPr>
        <p:spPr>
          <a:xfrm>
            <a:off x="680753" y="917662"/>
            <a:ext cx="17290743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Gamma Interface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6AD7DD-BB18-2821-0396-07130D8E1B9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7EF9FA-F063-21CA-77D9-9457B44BC2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3658" y="1773494"/>
            <a:ext cx="14943848" cy="74093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4E34E9F-5FA1-F272-A864-72412428EE33}"/>
              </a:ext>
            </a:extLst>
          </p:cNvPr>
          <p:cNvSpPr/>
          <p:nvPr/>
        </p:nvSpPr>
        <p:spPr>
          <a:xfrm>
            <a:off x="2715167" y="1624819"/>
            <a:ext cx="3657600" cy="8976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You can get  readymade templates, Media </a:t>
            </a:r>
            <a:r>
              <a:rPr lang="en-US" sz="2500" dirty="0" err="1"/>
              <a:t>etc</a:t>
            </a:r>
            <a:endParaRPr lang="en-IN" sz="25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3FE646A-80DE-6B82-7214-632493A9EDEF}"/>
              </a:ext>
            </a:extLst>
          </p:cNvPr>
          <p:cNvSpPr/>
          <p:nvPr/>
        </p:nvSpPr>
        <p:spPr>
          <a:xfrm>
            <a:off x="8381999" y="2288934"/>
            <a:ext cx="2562567" cy="89768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/>
              <a:t>Create New gamma</a:t>
            </a:r>
            <a:endParaRPr lang="en-IN" sz="25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21B7BA-D090-488C-6826-2415F2D6199A}"/>
              </a:ext>
            </a:extLst>
          </p:cNvPr>
          <p:cNvSpPr/>
          <p:nvPr/>
        </p:nvSpPr>
        <p:spPr>
          <a:xfrm>
            <a:off x="11201400" y="1764215"/>
            <a:ext cx="3124200" cy="14742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Import your resources from your computer or any file/website online</a:t>
            </a:r>
            <a:endParaRPr lang="en-IN" sz="25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42F6563-CC89-D82E-C1C4-BD443B4D5960}"/>
              </a:ext>
            </a:extLst>
          </p:cNvPr>
          <p:cNvSpPr/>
          <p:nvPr/>
        </p:nvSpPr>
        <p:spPr>
          <a:xfrm>
            <a:off x="6048819" y="3660206"/>
            <a:ext cx="2562567" cy="148329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500" dirty="0"/>
              <a:t>Create your PPT based on cards. Instead of slides gamma uses cards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40900900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B2D9F-C188-0242-0673-80A509722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208249F-358C-7F45-707F-4AAD3F55F77C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0FF9D54-6CA1-CE0A-A40D-A25721665451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DD2A02A-42E9-DEFE-660A-64A99CE7A73E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BB4228F-CF57-E985-A778-09AB115D4F1B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5895FB8-61B0-DB99-FD87-38BE6BA8BFFD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2A08F7D-5B91-97FF-A25E-3351A7484BFA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A043D33-7572-16FC-A19E-45A2EB740D97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1A89383B-8C2E-CD4D-1132-77E1282B99DE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D239C-46D0-D04E-80DA-9F695F7BC5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BC65F4C-104E-DB0A-2653-E03592CF7F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148" y="1516095"/>
            <a:ext cx="15212846" cy="8013062"/>
          </a:xfrm>
          <a:prstGeom prst="rect">
            <a:avLst/>
          </a:prstGeom>
        </p:spPr>
      </p:pic>
      <p:sp>
        <p:nvSpPr>
          <p:cNvPr id="17" name="TextBox 10">
            <a:extLst>
              <a:ext uri="{FF2B5EF4-FFF2-40B4-BE49-F238E27FC236}">
                <a16:creationId xmlns:a16="http://schemas.microsoft.com/office/drawing/2014/main" id="{9C653F0D-C486-41C9-7811-59402F824D40}"/>
              </a:ext>
            </a:extLst>
          </p:cNvPr>
          <p:cNvSpPr txBox="1"/>
          <p:nvPr/>
        </p:nvSpPr>
        <p:spPr>
          <a:xfrm>
            <a:off x="609432" y="757843"/>
            <a:ext cx="17290743" cy="84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Gamma Interface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A380C5-F679-D5B8-400A-DC4607482478}"/>
              </a:ext>
            </a:extLst>
          </p:cNvPr>
          <p:cNvSpPr/>
          <p:nvPr/>
        </p:nvSpPr>
        <p:spPr>
          <a:xfrm>
            <a:off x="10287000" y="2019300"/>
            <a:ext cx="5954548" cy="1219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Here you will get readymade PPTs. You can select and edit it as per your requirement</a:t>
            </a:r>
            <a:endParaRPr lang="en-IN" sz="2500" dirty="0"/>
          </a:p>
        </p:txBody>
      </p:sp>
    </p:spTree>
    <p:extLst>
      <p:ext uri="{BB962C8B-B14F-4D97-AF65-F5344CB8AC3E}">
        <p14:creationId xmlns:p14="http://schemas.microsoft.com/office/powerpoint/2010/main" val="1256454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30BC10-5408-67C1-EB93-6B840F252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0C7548-B26E-448A-499E-03D6725C141F}"/>
              </a:ext>
            </a:extLst>
          </p:cNvPr>
          <p:cNvGrpSpPr/>
          <p:nvPr/>
        </p:nvGrpSpPr>
        <p:grpSpPr>
          <a:xfrm rot="-66347">
            <a:off x="1028655" y="484556"/>
            <a:ext cx="16597733" cy="9308609"/>
            <a:chOff x="0" y="0"/>
            <a:chExt cx="4371419" cy="245165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C061C5B-84CD-247F-3BBA-4A6F60A80DAE}"/>
                </a:ext>
              </a:extLst>
            </p:cNvPr>
            <p:cNvSpPr/>
            <p:nvPr/>
          </p:nvSpPr>
          <p:spPr>
            <a:xfrm>
              <a:off x="0" y="0"/>
              <a:ext cx="4371419" cy="2451650"/>
            </a:xfrm>
            <a:custGeom>
              <a:avLst/>
              <a:gdLst/>
              <a:ahLst/>
              <a:cxnLst/>
              <a:rect l="l" t="t" r="r" b="b"/>
              <a:pathLst>
                <a:path w="4371419" h="2451650">
                  <a:moveTo>
                    <a:pt x="0" y="0"/>
                  </a:moveTo>
                  <a:lnTo>
                    <a:pt x="4371419" y="0"/>
                  </a:lnTo>
                  <a:lnTo>
                    <a:pt x="4371419" y="2451650"/>
                  </a:lnTo>
                  <a:lnTo>
                    <a:pt x="0" y="2451650"/>
                  </a:lnTo>
                  <a:close/>
                </a:path>
              </a:pathLst>
            </a:custGeom>
            <a:solidFill>
              <a:srgbClr val="6DC0D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9FFB8EA-D86D-D9A3-BC0B-8DB0FBC01C0F}"/>
                </a:ext>
              </a:extLst>
            </p:cNvPr>
            <p:cNvSpPr txBox="1"/>
            <p:nvPr/>
          </p:nvSpPr>
          <p:spPr>
            <a:xfrm>
              <a:off x="0" y="-38100"/>
              <a:ext cx="4371419" cy="2489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301B464-3F41-E5C6-0B5F-6AEC187838C5}"/>
              </a:ext>
            </a:extLst>
          </p:cNvPr>
          <p:cNvSpPr/>
          <p:nvPr/>
        </p:nvSpPr>
        <p:spPr>
          <a:xfrm rot="-5466347">
            <a:off x="-3305811" y="4493757"/>
            <a:ext cx="9308609" cy="1598234"/>
          </a:xfrm>
          <a:custGeom>
            <a:avLst/>
            <a:gdLst/>
            <a:ahLst/>
            <a:cxnLst/>
            <a:rect l="l" t="t" r="r" b="b"/>
            <a:pathLst>
              <a:path w="9308609" h="1598234">
                <a:moveTo>
                  <a:pt x="0" y="0"/>
                </a:moveTo>
                <a:lnTo>
                  <a:pt x="9308610" y="0"/>
                </a:lnTo>
                <a:lnTo>
                  <a:pt x="9308610" y="1598234"/>
                </a:lnTo>
                <a:lnTo>
                  <a:pt x="0" y="15982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725887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43E16632-7BCD-1040-DBE8-F33AE358143B}"/>
              </a:ext>
            </a:extLst>
          </p:cNvPr>
          <p:cNvGrpSpPr/>
          <p:nvPr/>
        </p:nvGrpSpPr>
        <p:grpSpPr>
          <a:xfrm rot="-66347">
            <a:off x="2129671" y="792069"/>
            <a:ext cx="15046409" cy="8769649"/>
            <a:chOff x="0" y="0"/>
            <a:chExt cx="3962840" cy="2309702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8019DE6-DE93-8BF7-4847-96AFFA30F8D0}"/>
                </a:ext>
              </a:extLst>
            </p:cNvPr>
            <p:cNvSpPr/>
            <p:nvPr/>
          </p:nvSpPr>
          <p:spPr>
            <a:xfrm>
              <a:off x="0" y="0"/>
              <a:ext cx="3962840" cy="2309702"/>
            </a:xfrm>
            <a:custGeom>
              <a:avLst/>
              <a:gdLst/>
              <a:ahLst/>
              <a:cxnLst/>
              <a:rect l="l" t="t" r="r" b="b"/>
              <a:pathLst>
                <a:path w="3962840" h="2309702">
                  <a:moveTo>
                    <a:pt x="0" y="0"/>
                  </a:moveTo>
                  <a:lnTo>
                    <a:pt x="3962840" y="0"/>
                  </a:lnTo>
                  <a:lnTo>
                    <a:pt x="3962840" y="2309702"/>
                  </a:lnTo>
                  <a:lnTo>
                    <a:pt x="0" y="2309702"/>
                  </a:lnTo>
                  <a:close/>
                </a:path>
              </a:pathLst>
            </a:custGeom>
            <a:solidFill>
              <a:srgbClr val="FFF4F8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5CA85F0E-5678-19C1-8FCE-AD70CDE4814D}"/>
                </a:ext>
              </a:extLst>
            </p:cNvPr>
            <p:cNvSpPr txBox="1"/>
            <p:nvPr/>
          </p:nvSpPr>
          <p:spPr>
            <a:xfrm>
              <a:off x="0" y="-38100"/>
              <a:ext cx="3962840" cy="23478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24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8A7921AC-F00F-6C8B-E1A5-6535303F2E81}"/>
              </a:ext>
            </a:extLst>
          </p:cNvPr>
          <p:cNvSpPr/>
          <p:nvPr/>
        </p:nvSpPr>
        <p:spPr>
          <a:xfrm rot="5248613">
            <a:off x="16120225" y="8069051"/>
            <a:ext cx="778418" cy="2378498"/>
          </a:xfrm>
          <a:custGeom>
            <a:avLst/>
            <a:gdLst/>
            <a:ahLst/>
            <a:cxnLst/>
            <a:rect l="l" t="t" r="r" b="b"/>
            <a:pathLst>
              <a:path w="778418" h="2378498">
                <a:moveTo>
                  <a:pt x="0" y="0"/>
                </a:moveTo>
                <a:lnTo>
                  <a:pt x="778418" y="0"/>
                </a:lnTo>
                <a:lnTo>
                  <a:pt x="778418" y="2378498"/>
                </a:lnTo>
                <a:lnTo>
                  <a:pt x="0" y="2378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71606EC-D141-41B7-301A-FEA442C9E8B0}"/>
              </a:ext>
            </a:extLst>
          </p:cNvPr>
          <p:cNvSpPr txBox="1"/>
          <p:nvPr/>
        </p:nvSpPr>
        <p:spPr>
          <a:xfrm>
            <a:off x="680753" y="917662"/>
            <a:ext cx="17290743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999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0081B8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Gamma Interface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55CAE0C-4CC5-527E-A373-F536371497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C16783-7E79-7837-851F-100E60C61C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606" y="1959336"/>
            <a:ext cx="7211518" cy="738794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EEF6201-F0AB-CD59-36D5-13E887ECB4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1532" y="1959336"/>
            <a:ext cx="7339261" cy="73685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E2B0D6-D593-36FA-EE05-D456437E35F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32407" t="19212" r="51971" b="28178"/>
          <a:stretch>
            <a:fillRect/>
          </a:stretch>
        </p:blipFill>
        <p:spPr bwMode="auto">
          <a:xfrm>
            <a:off x="2892888" y="5624581"/>
            <a:ext cx="895350" cy="16954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43011342-013E-F56E-B237-3F66E8F45E51}"/>
              </a:ext>
            </a:extLst>
          </p:cNvPr>
          <p:cNvSpPr/>
          <p:nvPr/>
        </p:nvSpPr>
        <p:spPr>
          <a:xfrm>
            <a:off x="3767641" y="5725947"/>
            <a:ext cx="2917362" cy="159408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/>
              <a:t>Select no. of cards and with one prompt you can create </a:t>
            </a:r>
            <a:br>
              <a:rPr lang="en-US" sz="2500" dirty="0"/>
            </a:br>
            <a:r>
              <a:rPr lang="en-US" sz="2500" dirty="0"/>
              <a:t>PPT</a:t>
            </a:r>
            <a:endParaRPr lang="en-IN" sz="25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477960-1EE0-7F05-1FEC-1A0BF9F518F0}"/>
              </a:ext>
            </a:extLst>
          </p:cNvPr>
          <p:cNvSpPr/>
          <p:nvPr/>
        </p:nvSpPr>
        <p:spPr>
          <a:xfrm>
            <a:off x="9602009" y="5448300"/>
            <a:ext cx="2380441" cy="2590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300" dirty="0"/>
              <a:t>You can control your cards content with “---” and gamma will create ppt as given prompt</a:t>
            </a:r>
            <a:endParaRPr lang="en-IN" sz="2300" dirty="0"/>
          </a:p>
        </p:txBody>
      </p:sp>
    </p:spTree>
    <p:extLst>
      <p:ext uri="{BB962C8B-B14F-4D97-AF65-F5344CB8AC3E}">
        <p14:creationId xmlns:p14="http://schemas.microsoft.com/office/powerpoint/2010/main" val="2401163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2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3" y="3493251"/>
            <a:ext cx="10287003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33106" y="248719"/>
            <a:ext cx="15812264" cy="1057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4"/>
              </a:lnSpc>
              <a:spcBef>
                <a:spcPct val="0"/>
              </a:spcBef>
            </a:pPr>
            <a:r>
              <a:rPr lang="en-US" sz="616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Introduction To LLM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3860800"/>
            <a:ext cx="952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533400" y="1495324"/>
            <a:ext cx="18288000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LLM stands for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 Language Model.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Large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Trained on huge amounts of data and contains billions of parameters.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Language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Works with human languages like English, Hindi, Marathi, etc.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Model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→ A mathematical system that learns patterns from data.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a type of Artificial Intelligence (AI) that understands and generates human language.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trained on a very large amount of text data such as books, articles, websites, and documents.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Examples include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ChatGPT, Gemini, and Claude.</a:t>
            </a: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LLM works :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reads large amounts of text during training.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learns patterns, grammar, facts, and relationships between words.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When a user enters a prompt, it predicts the most likely next words.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generates a complete response based on those predictions.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5E1234-DE20-E711-1029-6D42192A11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02490" y="-102020"/>
            <a:ext cx="16192738" cy="1101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Introduction to Prompt Engineering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4577" y="1450044"/>
            <a:ext cx="17823423" cy="8571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3" lvl="1" indent="-367031" algn="l">
              <a:lnSpc>
                <a:spcPts val="4760"/>
              </a:lnSpc>
              <a:spcBef>
                <a:spcPct val="0"/>
              </a:spcBef>
              <a:buAutoNum type="arabicPeriod"/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Prompt </a:t>
            </a: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is nothing but the effective way to provide the instructions to the AI tools.</a:t>
            </a:r>
          </a:p>
          <a:p>
            <a:pPr marL="734063" lvl="1" indent="-367031" algn="l">
              <a:lnSpc>
                <a:spcPts val="4760"/>
              </a:lnSpc>
              <a:spcBef>
                <a:spcPct val="0"/>
              </a:spcBef>
              <a:buAutoNum type="arabicPeriod"/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4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Prompt Engineering</a:t>
            </a: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is the study of writing the effective prompts for AI tools which helps to provide the effective output or results.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endParaRPr lang="en-US" sz="3400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Weak Prompt</a:t>
            </a: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= A unclear instruction that gives poor results.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Eg: Tell me about AI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Strong prompt:</a:t>
            </a: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A clear, specific instruction that gives better and accurate results.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Eg: Explain Artificial Intelligence in 5 simple points for beginners with examples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endParaRPr lang="en-US" sz="3400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ACTIVITY: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1.Open Google AI tool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2.Search “Tell me about LLM” and review the generated results</a:t>
            </a:r>
          </a:p>
          <a:p>
            <a:pPr algn="l">
              <a:lnSpc>
                <a:spcPts val="4760"/>
              </a:lnSpc>
              <a:spcBef>
                <a:spcPct val="0"/>
              </a:spcBef>
            </a:pPr>
            <a:r>
              <a:rPr lang="en-US" sz="34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3.Now search “Tell me about a LLM in 6–7 lines including example and use in real world scenario” now see the difference.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8E5902-0A02-C99D-8ED3-E4ABDB3C3E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562600" y="316280"/>
            <a:ext cx="6383417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Types of Prompts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50380" y="1733752"/>
            <a:ext cx="15854504" cy="741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1. Role-based Prompt = </a:t>
            </a: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 prompt where you assign a role or identity to AI so it responds like that expert or person.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Eg: “You are a teacher. Explain photosynthesis in simple words.”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2. Task-based Prompt = </a:t>
            </a: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 prompt where you clearly give a specific task or instruction without assigning any role.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Eg: “Explain photosynthesis in simple words.”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ACTIVITY</a:t>
            </a: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: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Give above examples prompts in Google AI tool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Give the weak prompts and convert it into strong prompts</a:t>
            </a:r>
          </a:p>
          <a:p>
            <a:pPr marL="755651" lvl="1" indent="-377825" algn="l">
              <a:lnSpc>
                <a:spcPts val="4900"/>
              </a:lnSpc>
              <a:spcBef>
                <a:spcPct val="0"/>
              </a:spcBef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 Give the example of Role-based and Task-based prompts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24668D-C117-DA14-A194-181B777A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962913" y="-15975"/>
            <a:ext cx="14609089" cy="106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RTF Framework (Role – Task – Format)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8F9611F-3459-68A8-C2E0-1A9640EB6A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02DAB090-2E43-0AA9-F8F9-44C5C218244F}"/>
              </a:ext>
            </a:extLst>
          </p:cNvPr>
          <p:cNvSpPr txBox="1"/>
          <p:nvPr/>
        </p:nvSpPr>
        <p:spPr>
          <a:xfrm>
            <a:off x="645036" y="1409700"/>
            <a:ext cx="17261963" cy="81139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RTF stands for Role Task Format.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Role: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Who should AI act as?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Task: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What should AI do?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Format: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How should the answer be presented?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Features of RTF Framework:</a:t>
            </a:r>
          </a:p>
          <a:p>
            <a:pPr marL="914400" lvl="1" indent="-457200" algn="just">
              <a:lnSpc>
                <a:spcPts val="49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Easy framework for everyday prompting.</a:t>
            </a:r>
          </a:p>
          <a:p>
            <a:pPr marL="914400" lvl="1" indent="-457200" algn="just">
              <a:lnSpc>
                <a:spcPts val="49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 Bold"/>
                <a:cs typeface="Arial" panose="020B0604020202020204" pitchFamily="34" charset="0"/>
                <a:sym typeface="Fraunces Bold"/>
              </a:rPr>
              <a:t>Ideal for beginners and professionals.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Example: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Role: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HR Manager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Task: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Create a Job Description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Format: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Bullet points with salary, responsibilities, and qualifications</a:t>
            </a:r>
          </a:p>
          <a:p>
            <a:pPr algn="just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Prompt Example: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Fraunces"/>
                <a:cs typeface="Arial" panose="020B0604020202020204" pitchFamily="34" charset="0"/>
                <a:sym typeface="Fraunces"/>
              </a:rPr>
              <a:t>Act as an HR Manager. Create a job description for a Sales Executive. Present it in bullet points including salary, responsibilities, and qualifications.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2F31-B118-A788-23E8-D506CCAB7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8759CF-0D31-45E0-4398-82D339352A59}"/>
              </a:ext>
            </a:extLst>
          </p:cNvPr>
          <p:cNvSpPr/>
          <p:nvPr/>
        </p:nvSpPr>
        <p:spPr>
          <a:xfrm rot="5400000">
            <a:off x="-3369728" y="3354040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83D8E84-0309-848B-F04B-9416408CF6F0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42D1E8E-CE89-B36D-1651-B6F09456B19A}"/>
              </a:ext>
            </a:extLst>
          </p:cNvPr>
          <p:cNvSpPr txBox="1"/>
          <p:nvPr/>
        </p:nvSpPr>
        <p:spPr>
          <a:xfrm>
            <a:off x="1839455" y="-266700"/>
            <a:ext cx="14609089" cy="106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Chain Prompting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0E8270-993F-EE52-B3B8-C6BAE3DAED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3E19B7-D832-A234-D3FE-179D4A8BF0E6}"/>
              </a:ext>
            </a:extLst>
          </p:cNvPr>
          <p:cNvSpPr txBox="1"/>
          <p:nvPr/>
        </p:nvSpPr>
        <p:spPr>
          <a:xfrm>
            <a:off x="609600" y="1028700"/>
            <a:ext cx="17373600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/>
              <a:t>It divides a large task into smaller prompts.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/>
              <a:t>Each response becomes input for the next prompt.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/>
              <a:t>It produces more detailed and accurate results.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500" b="1" dirty="0"/>
              <a:t>It is ideal for complex projects.</a:t>
            </a:r>
          </a:p>
          <a:p>
            <a:endParaRPr lang="en-IN" sz="3500" b="1" dirty="0"/>
          </a:p>
          <a:p>
            <a:r>
              <a:rPr lang="en-IN" sz="3500" b="1" dirty="0"/>
              <a:t>Example of Chain Prompting:</a:t>
            </a:r>
          </a:p>
          <a:p>
            <a:r>
              <a:rPr lang="en-US" sz="3500" dirty="0"/>
              <a:t>Business Idea </a:t>
            </a:r>
            <a:r>
              <a:rPr lang="en-US" sz="3500" dirty="0">
                <a:sym typeface="Wingdings" panose="05000000000000000000" pitchFamily="2" charset="2"/>
              </a:rPr>
              <a:t> </a:t>
            </a:r>
            <a:r>
              <a:rPr lang="en-US" sz="3500" dirty="0"/>
              <a:t>Business Plan </a:t>
            </a:r>
            <a:r>
              <a:rPr lang="en-US" sz="3500" dirty="0">
                <a:sym typeface="Wingdings" panose="05000000000000000000" pitchFamily="2" charset="2"/>
              </a:rPr>
              <a:t> </a:t>
            </a:r>
            <a:r>
              <a:rPr lang="en-US" sz="3500" dirty="0"/>
              <a:t>Website Content </a:t>
            </a:r>
            <a:r>
              <a:rPr lang="en-US" sz="3500" dirty="0">
                <a:sym typeface="Wingdings" panose="05000000000000000000" pitchFamily="2" charset="2"/>
              </a:rPr>
              <a:t></a:t>
            </a:r>
            <a:r>
              <a:rPr lang="en-US" sz="3500" dirty="0"/>
              <a:t> Social Media Posts </a:t>
            </a:r>
            <a:r>
              <a:rPr lang="en-US" sz="3500" dirty="0">
                <a:sym typeface="Wingdings" panose="05000000000000000000" pitchFamily="2" charset="2"/>
              </a:rPr>
              <a:t></a:t>
            </a:r>
            <a:r>
              <a:rPr lang="en-US" sz="3500" dirty="0"/>
              <a:t> Email Marketing</a:t>
            </a:r>
            <a:endParaRPr lang="en-IN" sz="3500"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85ADD35F-CABA-8A46-20DB-4296B05BC9A1}"/>
              </a:ext>
            </a:extLst>
          </p:cNvPr>
          <p:cNvSpPr txBox="1"/>
          <p:nvPr/>
        </p:nvSpPr>
        <p:spPr>
          <a:xfrm>
            <a:off x="1524000" y="4530984"/>
            <a:ext cx="14609089" cy="1069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Fraunces Bold"/>
                <a:ea typeface="Fraunces Bold"/>
                <a:cs typeface="Fraunces Bold"/>
                <a:sym typeface="Fraunces Bold"/>
              </a:rPr>
              <a:t>Iterative Prompting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0DEE5-DB42-7043-AB80-8487C0FD0E40}"/>
              </a:ext>
            </a:extLst>
          </p:cNvPr>
          <p:cNvSpPr txBox="1"/>
          <p:nvPr/>
        </p:nvSpPr>
        <p:spPr>
          <a:xfrm>
            <a:off x="304800" y="5753100"/>
            <a:ext cx="182118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/>
              <a:t>Improve responses step by step.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/>
              <a:t>Refine instead of rewriting from scratch.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/>
              <a:t>Add new instructions after each response.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b="1" dirty="0"/>
              <a:t>Produces polished final results.</a:t>
            </a:r>
            <a:endParaRPr lang="en-IN" sz="3500" b="1" dirty="0"/>
          </a:p>
          <a:p>
            <a:r>
              <a:rPr lang="en-IN" sz="3500" b="1" dirty="0"/>
              <a:t>Example of Iterative Prompting:</a:t>
            </a:r>
          </a:p>
          <a:p>
            <a:r>
              <a:rPr lang="en-US" sz="3500" b="1" dirty="0"/>
              <a:t>Prompt 1: </a:t>
            </a:r>
            <a:r>
              <a:rPr lang="en-US" sz="3500" dirty="0"/>
              <a:t>Write a resume. </a:t>
            </a:r>
            <a:r>
              <a:rPr lang="en-US" sz="3500" b="1" dirty="0"/>
              <a:t>Prompt 2: </a:t>
            </a:r>
            <a:r>
              <a:rPr lang="en-US" sz="3500" dirty="0"/>
              <a:t>Make it more professional. </a:t>
            </a:r>
          </a:p>
          <a:p>
            <a:r>
              <a:rPr lang="en-US" sz="3500" b="1" dirty="0"/>
              <a:t>Prompt 3: </a:t>
            </a:r>
            <a:r>
              <a:rPr lang="en-US" sz="3500" dirty="0"/>
              <a:t>Reduce it to one page. </a:t>
            </a:r>
            <a:r>
              <a:rPr lang="en-US" sz="3500" b="1" dirty="0"/>
              <a:t>Prompt 4: </a:t>
            </a:r>
            <a:r>
              <a:rPr lang="en-US" sz="3500" dirty="0"/>
              <a:t>Optimize for HR role. </a:t>
            </a:r>
            <a:r>
              <a:rPr lang="en-US" sz="3500" b="1" dirty="0"/>
              <a:t>Prompt 5: </a:t>
            </a:r>
            <a:r>
              <a:rPr lang="en-US" sz="3500" dirty="0"/>
              <a:t>Add ATS-friendly keywords.</a:t>
            </a:r>
            <a:endParaRPr lang="en-IN" sz="3500" dirty="0"/>
          </a:p>
        </p:txBody>
      </p:sp>
    </p:spTree>
    <p:extLst>
      <p:ext uri="{BB962C8B-B14F-4D97-AF65-F5344CB8AC3E}">
        <p14:creationId xmlns:p14="http://schemas.microsoft.com/office/powerpoint/2010/main" val="36511166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4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155809" y="-55040"/>
            <a:ext cx="17142023" cy="4975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</a:t>
            </a:r>
            <a:r>
              <a:rPr lang="en-US" sz="35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the similar video using AI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Canva Sans Bold" panose="020B0604020202020204" charset="0"/>
                <a:ea typeface="Canva Sans"/>
                <a:cs typeface="Canva Sans"/>
                <a:sym typeface="Canva Sans"/>
              </a:rPr>
              <a:t>PROMPT USED: </a:t>
            </a:r>
            <a:r>
              <a:rPr lang="en-US" sz="3200" dirty="0">
                <a:solidFill>
                  <a:srgbClr val="000000"/>
                </a:solidFill>
                <a:latin typeface="Canva Sans" panose="020B0604020202020204" charset="0"/>
                <a:ea typeface="Canva Sans"/>
                <a:cs typeface="Canva Sans"/>
                <a:sym typeface="Canva Sans"/>
              </a:rPr>
              <a:t>Boy wins the running race </a:t>
            </a:r>
            <a:endParaRPr lang="en-US" sz="3200" b="1" dirty="0">
              <a:solidFill>
                <a:srgbClr val="000000"/>
              </a:solidFill>
              <a:latin typeface="Canva Sans" panose="020B0604020202020204" charset="0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Canva Sans Bold" panose="020B0604020202020204" charset="0"/>
                <a:ea typeface="Canva Sans"/>
                <a:cs typeface="Canva Sans"/>
                <a:sym typeface="Canva Sans"/>
              </a:rPr>
              <a:t>VIDEO: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Canva Sans Bold" panose="020B0604020202020204" charset="0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900"/>
              </a:lnSpc>
              <a:spcBef>
                <a:spcPct val="0"/>
              </a:spcBef>
            </a:pPr>
            <a:endParaRPr lang="en-US" sz="3200" b="1" dirty="0">
              <a:solidFill>
                <a:srgbClr val="000000"/>
              </a:solidFill>
              <a:latin typeface="Canva Sans Bold" panose="020B0604020202020204" charset="0"/>
              <a:ea typeface="Canva Sans"/>
              <a:cs typeface="Canva Sans"/>
              <a:sym typeface="Canva San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18981" y="342900"/>
            <a:ext cx="1714202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Video Generation Using AI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6FAE72-5CBD-5BF0-641C-68177199A1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8" name="WhatsApp Video 2026-07-03 at 11.18.25 AM">
            <a:hlinkClick r:id="" action="ppaction://media"/>
            <a:extLst>
              <a:ext uri="{FF2B5EF4-FFF2-40B4-BE49-F238E27FC236}">
                <a16:creationId xmlns:a16="http://schemas.microsoft.com/office/drawing/2014/main" id="{8AC00E04-7B28-4640-5541-5F1C1681CF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29000" y="3238500"/>
            <a:ext cx="11079163" cy="624461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33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343401" y="1466660"/>
            <a:ext cx="9071432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 Project Using AI Tools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85646" y="3619500"/>
            <a:ext cx="11186941" cy="27465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a revision notes using </a:t>
            </a:r>
            <a:r>
              <a:rPr lang="en-US" sz="51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NotebookLM</a:t>
            </a: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AI based on your school syllabus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E69EC5-1615-C86E-D0CF-E69F11F3B6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82196" y="2564843"/>
            <a:ext cx="15035289" cy="414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7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WITH MODULE 1 </a:t>
            </a:r>
          </a:p>
          <a:p>
            <a:pPr algn="ctr">
              <a:lnSpc>
                <a:spcPts val="11059"/>
              </a:lnSpc>
            </a:pPr>
            <a:endParaRPr lang="en-US" sz="7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1059"/>
              </a:lnSpc>
            </a:pPr>
            <a:r>
              <a:rPr lang="en-US" sz="7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DOUBTS ???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12CA60-1E82-BE4F-F370-71F817A39F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190313" y="1059815"/>
            <a:ext cx="14482564" cy="588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CHAPTER 2</a:t>
            </a:r>
          </a:p>
          <a:p>
            <a:pPr algn="ctr">
              <a:lnSpc>
                <a:spcPts val="6509"/>
              </a:lnSpc>
            </a:pPr>
            <a:endParaRPr lang="en-US" sz="6999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endParaRPr lang="en-US" sz="6999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lvl="0" indent="0" algn="ctr">
              <a:lnSpc>
                <a:spcPts val="15469"/>
              </a:lnSpc>
            </a:pPr>
            <a:r>
              <a:rPr lang="en-US" sz="6999" u="sng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BASICS  OF  PYTHON PROGRAMMING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994369-C1B6-DA94-B139-56608F8850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04255" y="124521"/>
            <a:ext cx="1294138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INTRODUCTION TO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11993" y="1316080"/>
            <a:ext cx="18399993" cy="9291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is general-purpose high-level scripting and programming language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Python was developed by Guido van Rossum in year of 1991.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is Beginner Friendly Programming Language.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is case sensitive language.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file is stored with extension of .</a:t>
            </a:r>
            <a:r>
              <a:rPr lang="en-US" sz="3697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</a:t>
            </a:r>
            <a:endParaRPr lang="en-US" sz="369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Advantages: 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is open source and easy to use programming language 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have extensive library function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is dynamically typed and interpreted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is platform independent</a:t>
            </a:r>
          </a:p>
          <a:p>
            <a:pPr marL="798365" lvl="1" indent="-399182" algn="l">
              <a:lnSpc>
                <a:spcPts val="5176"/>
              </a:lnSpc>
              <a:buAutoNum type="arabicPeriod"/>
            </a:pPr>
            <a:r>
              <a:rPr lang="en-US" sz="3697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Disadvantages: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is slow to execute compared to C, C++, Java </a:t>
            </a:r>
          </a:p>
          <a:p>
            <a:pPr marL="1596729" lvl="2" indent="-532243" algn="l">
              <a:lnSpc>
                <a:spcPts val="5176"/>
              </a:lnSpc>
              <a:buAutoNum type="alphaL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Python security depends on the programmer and application design</a:t>
            </a:r>
          </a:p>
          <a:p>
            <a:pPr algn="l">
              <a:lnSpc>
                <a:spcPts val="5176"/>
              </a:lnSpc>
            </a:pPr>
            <a:endParaRPr lang="en-US" sz="3697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FB14D8-3E18-FF38-357A-41A53B2F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521924" y="4063998"/>
            <a:ext cx="8811922" cy="5940336"/>
          </a:xfrm>
          <a:custGeom>
            <a:avLst/>
            <a:gdLst/>
            <a:ahLst/>
            <a:cxnLst/>
            <a:rect l="l" t="t" r="r" b="b"/>
            <a:pathLst>
              <a:path w="8811922" h="5940336">
                <a:moveTo>
                  <a:pt x="0" y="0"/>
                </a:moveTo>
                <a:lnTo>
                  <a:pt x="8811922" y="0"/>
                </a:lnTo>
                <a:lnTo>
                  <a:pt x="8811922" y="5940336"/>
                </a:lnTo>
                <a:lnTo>
                  <a:pt x="0" y="59403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75" t="-3707" r="-3093" b="-6171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43970" y="5010150"/>
            <a:ext cx="4452942" cy="367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SETUP  OF  PYTHON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3970" y="443759"/>
            <a:ext cx="17574155" cy="395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9414" lvl="1" algn="just">
              <a:lnSpc>
                <a:spcPts val="5179"/>
              </a:lnSpc>
            </a:pPr>
            <a:r>
              <a:rPr lang="en-US" sz="3699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8.</a:t>
            </a:r>
            <a:r>
              <a:rPr lang="en-US" sz="36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Application:</a:t>
            </a:r>
          </a:p>
          <a:p>
            <a:pPr algn="just">
              <a:lnSpc>
                <a:spcPts val="5179"/>
              </a:lnSpc>
            </a:pPr>
            <a:r>
              <a:rPr lang="en-US" sz="36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3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a. Python is applicable in website, desktop App, Web App, Android App development</a:t>
            </a:r>
          </a:p>
          <a:p>
            <a:pPr algn="just">
              <a:lnSpc>
                <a:spcPts val="5179"/>
              </a:lnSpc>
            </a:pPr>
            <a:r>
              <a:rPr lang="en-US" sz="3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b. Python is used in Data Analysis, Data Science, and Visualization</a:t>
            </a:r>
          </a:p>
          <a:p>
            <a:pPr algn="just">
              <a:lnSpc>
                <a:spcPts val="5179"/>
              </a:lnSpc>
            </a:pPr>
            <a:r>
              <a:rPr lang="en-US" sz="36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c. Python is used in Game Development, Machine Learning, Insight Generation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855D9C-3BAB-84F5-FC5F-7F6FDA1FB8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691885" y="-7620"/>
            <a:ext cx="13214031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DATATYPES IN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9406" y="1337702"/>
            <a:ext cx="18038991" cy="8516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some important datatypes used in Python Program</a:t>
            </a: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defines integer data present in the program. Example: 6 , 3 , -24 (Whole Number)</a:t>
            </a: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float: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determines decimal values in the program. Example: 16.90 , 14.12 , 12.00 , -32.89 , etc (Real Number) </a:t>
            </a: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bool: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defines the Boolean data in the Program (True / False). It is also called as categorical data. Example: True , False.</a:t>
            </a: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str: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String. It is collection of words or characters enclosed in ‘ ’ or “ “. </a:t>
            </a:r>
          </a:p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to Check Datatype of any Value:</a:t>
            </a:r>
          </a:p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type():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the Inbuilt function in python used to check type of data </a:t>
            </a:r>
          </a:p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type( value )</a:t>
            </a:r>
          </a:p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type(47) = int</a:t>
            </a:r>
          </a:p>
          <a:p>
            <a:pPr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 : 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 the type of data 31, 3.78 , False , “Hii” , “False” , True , “True”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2D1A46-92DF-9450-9B82-82521733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941122" y="3581743"/>
            <a:ext cx="11133164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333222" y="39126"/>
            <a:ext cx="993136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VARIABLE IN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0502" y="1427416"/>
            <a:ext cx="16496062" cy="917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 place where we can store the value </a:t>
            </a: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 can give any name to variable like any word or character but we need to follow some rules.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endParaRPr lang="en-US" sz="3697" u="none" strike="noStrike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Rule to Assign Variable Name: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Must start with a letter or underscore (_)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Cannot start with a number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Can contain letters, numbers, and underscores (_)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No spaces are allowed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Do not use Python keywords as variable names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endParaRPr lang="en-US" sz="3697" u="none" strike="noStrike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Tell correct variable name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Student name , _id , School_Name, 12 , age12, 12age, age 12, _, if</a:t>
            </a:r>
          </a:p>
          <a:p>
            <a:pPr marL="0" lvl="0" indent="0" algn="l">
              <a:lnSpc>
                <a:spcPts val="5176"/>
              </a:lnSpc>
              <a:spcBef>
                <a:spcPct val="0"/>
              </a:spcBef>
            </a:pPr>
            <a:endParaRPr lang="en-US" sz="3697" u="none" strike="noStrike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CAEDE4-E3EC-54E8-BB0B-FAEEB8F914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259731" y="224609"/>
            <a:ext cx="1376350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KEYWORDS IN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3663" y="1749161"/>
            <a:ext cx="16235637" cy="785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Keywords are the special words in python which having there own predefined functionality.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are 32 keywords in python.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endParaRPr lang="en-US" sz="3697" b="1" u="none" strike="noStrike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To get all keywords we need to use below program: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import keyword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                                  </a:t>
            </a:r>
            <a:r>
              <a:rPr lang="en-US" sz="3697" b="1" u="none" strike="noStrike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keyword.kwlist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There are 3 special keyword: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True , False , None 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 Why They are special, because we can assign it as value to a variable.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endParaRPr lang="en-US" sz="3697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 all Keyword using above program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Tell Right / Wrong: if = 2 , A = “if” , B = True , B = true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01B393-7E53-95A9-2784-736D64EC9C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977013" y="2152993"/>
            <a:ext cx="13990664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753119" y="190500"/>
            <a:ext cx="16781762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INPUT OUTPUT FUNCTION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2897" y="1837405"/>
            <a:ext cx="1863090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two functions which helps to perform Input and Output in Python Program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2897" y="2604453"/>
            <a:ext cx="17507204" cy="785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print()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inbuilt function in Python which is use to show statement to the screen. Which is the output statement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print(“ text that we want to print ”)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print(“Hello World”)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endParaRPr lang="en-US" sz="3697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98365" lvl="1" indent="-399182" algn="l">
              <a:lnSpc>
                <a:spcPts val="5176"/>
              </a:lnSpc>
              <a:spcBef>
                <a:spcPct val="0"/>
              </a:spcBef>
              <a:buAutoNum type="arabicPeriod"/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input() :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the inbuilt function in Python which is use to take the  input from the user.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 </a:t>
            </a:r>
            <a:r>
              <a:rPr lang="en-US" sz="3697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variable_name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input(“text to help user what need to enter”)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age = input(“Enter Your Age: ”)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endParaRPr lang="en-US" sz="3697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r>
              <a:rPr lang="en-US" sz="3697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  <a:r>
              <a:rPr lang="en-US" sz="3697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Take Name and age from user and print it again</a:t>
            </a:r>
          </a:p>
          <a:p>
            <a:pPr marL="0" lvl="0" indent="0" algn="just">
              <a:lnSpc>
                <a:spcPts val="5176"/>
              </a:lnSpc>
              <a:spcBef>
                <a:spcPct val="0"/>
              </a:spcBef>
            </a:pPr>
            <a:endParaRPr lang="en-US" sz="3697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1AE2FF-EBC4-322C-569B-5D8DCF410D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3626485233"/>
              </p:ext>
            </p:extLst>
          </p:nvPr>
        </p:nvGraphicFramePr>
        <p:xfrm>
          <a:off x="11811000" y="2304024"/>
          <a:ext cx="8820795" cy="56789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610600" imgH="5715000" progId="Excel.Sheet.12">
                  <p:embed/>
                </p:oleObj>
              </mc:Choice>
              <mc:Fallback>
                <p:oleObj name="Worksheet" r:id="rId3" imgW="8610600" imgH="5715000" progId="Excel.Sheet.12">
                  <p:embed/>
                  <p:pic>
                    <p:nvPicPr>
                      <p:cNvPr id="4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11000" y="2304024"/>
                        <a:ext cx="8820795" cy="56789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0" y="146050"/>
            <a:ext cx="18288000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ARITHMETIC OPERATORS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1445749"/>
            <a:ext cx="11219805" cy="9807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is use to perform specific arithmetic operation</a:t>
            </a:r>
          </a:p>
          <a:p>
            <a:pPr algn="just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Addition (+):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to add numbers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Subtraction (-):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to subtract numbers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Multiplication (*):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to multiply number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 Division (/):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to divide number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Floor Division (//):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divide the number and return the integer part of division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Modulus Division (%):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return the reminder of the division</a:t>
            </a:r>
          </a:p>
          <a:p>
            <a:pPr marL="734059" lvl="1" indent="-367030" algn="just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Power (**):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use to find the power of number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Find answer 3**4+(4*2)-16/4%2//2 </a:t>
            </a: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Hint: Use knowledge of Operation Preference </a:t>
            </a:r>
          </a:p>
          <a:p>
            <a:pPr algn="just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D4EED0-7D61-6E7D-3C41-406CAE1CA8B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Object 4"/>
          <p:cNvGraphicFramePr/>
          <p:nvPr/>
        </p:nvGraphicFramePr>
        <p:xfrm>
          <a:off x="9656550" y="1504971"/>
          <a:ext cx="754380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9042400" imgH="5905500" progId="Excel.Sheet.12">
                  <p:embed/>
                </p:oleObj>
              </mc:Choice>
              <mc:Fallback>
                <p:oleObj name="Worksheet" r:id="rId3" imgW="9042400" imgH="5905500" progId="Excel.Sheet.12">
                  <p:embed/>
                  <p:pic>
                    <p:nvPicPr>
                      <p:cNvPr id="4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656550" y="1504971"/>
                        <a:ext cx="754380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961070" y="66696"/>
            <a:ext cx="13390960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u="none" strike="noStrike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COMPARISON OPERATORS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3712" y="1577382"/>
            <a:ext cx="9062838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is used to compare LHS and RHS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different comparison operators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Tell True OR False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56 &gt; 78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-67 &gt; 67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0 == 0 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12 &gt;= 12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0F13A2-AD47-20EA-80E9-446EC6A051B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514600" y="124794"/>
            <a:ext cx="14078486" cy="1193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ASSIGNMENT </a:t>
            </a:r>
            <a:r>
              <a:rPr lang="en-US" sz="6999" u="none" strike="noStrike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OPERATORS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93712" y="1438296"/>
            <a:ext cx="16960639" cy="857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is used to assign a value to a variable</a:t>
            </a:r>
          </a:p>
          <a:p>
            <a:pPr algn="l">
              <a:lnSpc>
                <a:spcPts val="4759"/>
              </a:lnSpc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Assign below value and print it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= 3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 = -56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k = “constant”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are two types in assignment operator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Normal Assignment: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Same like above (a = 3)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Compound Assignment: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used to update the looping variable.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Eg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= a + 1 Here If a = 5 then in next loop a become 6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 can write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= a + 1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as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+= 1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both give same results.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Compound Assignment allows all type of operators.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9289D-BE94-72A9-818F-74030F05B8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028700" y="1979669"/>
            <a:ext cx="16230600" cy="778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Create Simple Calculator in Python takes input from user 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Inputs:</a:t>
            </a: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Num1 , Num2 , Operation (+,-,*,/)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Code: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num1 = int(input(“Enter 1st number”))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num2 = int(input(“Enter 2nd number”))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addition = num1 + num2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 = num1 - num2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 = num1 * num2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div = num1 / num2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print(addition)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print(sub)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print(mul)</a:t>
            </a:r>
          </a:p>
          <a:p>
            <a:pPr marL="0" lvl="0" indent="0" algn="l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print(div)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73238" y="297230"/>
            <a:ext cx="13141523" cy="102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CREATE YOUR OWN CALCULATOR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55C153-2668-12B6-1409-48568AB226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821430" y="231775"/>
            <a:ext cx="10568940" cy="102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CONDITIONAL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0331" y="1519555"/>
            <a:ext cx="16552013" cy="7345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These Statements is executed when specific condition is true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if : 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a certain condition is true then this statement will execute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&lt;condition&gt;: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True Statement Block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age &gt;= 18: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print(“You are eligible to vote”)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else: 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extension of if where if condition is not true then else block will execute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&lt;condition&gt;: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True Statement Block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else: 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False Statement Block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0" y="6134100"/>
            <a:ext cx="7828344" cy="24208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if age &gt;= 18: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print(“You are eligible to vote”)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else: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print(“You are not eligible to vote”)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4164" y="9353550"/>
            <a:ext cx="17833836" cy="514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 </a:t>
            </a: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CHECK THE STUDENT IS PASS OR FAIL MORE THAN OR EQUAL TO 32 MEANS PASS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B87DF5-AD02-B59D-B260-57D96536B4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57825" y="287336"/>
            <a:ext cx="17001475" cy="958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3.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if </a:t>
            </a:r>
            <a:r>
              <a:rPr lang="en-US" sz="3399" b="1" u="none" strike="noStrike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elif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else: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used when we have to check more than one condition in the   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program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In if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elif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else statement if block is mandatory whereas else block is optional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We have to think when we need to use if else block and if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elif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else block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if &lt;condition 1&gt;: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True Statement Block 1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elif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&lt;condition 2&gt;: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True Statement Block 2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elif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&lt;condition n&gt;: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True Statement Block n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endParaRPr lang="en-US" sz="3399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endParaRPr lang="en-US" sz="3399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endParaRPr lang="en-US" sz="3399" u="none" strike="noStrike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Every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elif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block should have condition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Passing else block is totally up to you, You should think about whether else 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block is required or not.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01872" y="2773412"/>
            <a:ext cx="6823093" cy="5981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marks = 75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if marks &gt;= 90: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print("Grade A")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elif marks &gt;= 75: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print("Grade B")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elif marks &gt;= 50: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print("Grade C")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else: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print("Fail")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92DD58-A602-E341-4A93-B0C30CA5A4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73387" y="1411817"/>
            <a:ext cx="17001475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</a:t>
            </a:r>
            <a:r>
              <a:rPr lang="en-US" sz="3399" b="1" u="none" strike="noStrik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loop is a programming statement that repeats a block of code multiple times until a condition is met.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854119" y="76201"/>
            <a:ext cx="8579763" cy="102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 u="none" strike="noStrike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LOOPING STATEMENT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3387" y="2534285"/>
            <a:ext cx="16124379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are two looping statements: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 loop: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for loop is used when we know how many times we want to repeat a task.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variable in range(number):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# Code to repeat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</a:t>
            </a:r>
            <a:r>
              <a:rPr lang="en-US" sz="3399" u="none" strike="noStrike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range(5):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      print("Welcome")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while loop: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 while loop repeats the code as long as a condition is True.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looping variable declaration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while condition: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# Code to repeat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Updating the looping variable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70343" y="7505700"/>
            <a:ext cx="7004519" cy="2380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 u="none" strike="noStrike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count = 1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while count &lt;= 5: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print(count)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u="none" strike="noStrike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count = count + 1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AC1988-C9ED-5245-DB3C-8F5673F06E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72977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205503" y="1357683"/>
            <a:ext cx="15876994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 is the Inbuilt python function used to get the numbers / data in a particular order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5348" y="76201"/>
            <a:ext cx="7957304" cy="1028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RANGE( ) FUNCTION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50482" y="2628900"/>
            <a:ext cx="16124379" cy="796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Mostly range ( ) function used in the for loop</a:t>
            </a: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Syntax: range( Start , End , Updation ):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Here Start is starting value i.e. where we want to start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End is where we want to end (End value not included in printing)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Updation is gap between two consecutive values.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for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range(1,50,1):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             print(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)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Print even number from 1 to 100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Print odd number from 1 to 100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    Print table of 8 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BB576D-46E3-1A4F-44EC-75A348ABD6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" name="Object 4"/>
          <p:cNvGraphicFramePr/>
          <p:nvPr>
            <p:extLst>
              <p:ext uri="{D42A27DB-BD31-4B8C-83A1-F6EECF244321}">
                <p14:modId xmlns:p14="http://schemas.microsoft.com/office/powerpoint/2010/main" val="2417714728"/>
              </p:ext>
            </p:extLst>
          </p:nvPr>
        </p:nvGraphicFramePr>
        <p:xfrm>
          <a:off x="304800" y="647700"/>
          <a:ext cx="17398725" cy="8458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18719800" imgH="10007600" progId="Excel.Sheet.12">
                  <p:embed/>
                </p:oleObj>
              </mc:Choice>
              <mc:Fallback>
                <p:oleObj name="Worksheet" r:id="rId3" imgW="18719800" imgH="10007600" progId="Excel.Sheet.12">
                  <p:embed/>
                  <p:pic>
                    <p:nvPicPr>
                      <p:cNvPr id="4" name="Object 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4800" y="647700"/>
                        <a:ext cx="17398725" cy="84581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360831" y="452264"/>
            <a:ext cx="13566338" cy="7715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4500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DIFFERENCE BETWEEN FOR AND WHILE LOOP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8C3330-6363-1529-F923-7C11C04FAF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775904" y="2601576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5448598" y="12171"/>
            <a:ext cx="7390805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99"/>
              </a:lnSpc>
              <a:spcBef>
                <a:spcPct val="0"/>
              </a:spcBef>
            </a:pP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LIST IN PYTHON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6189" y="1305560"/>
            <a:ext cx="17335705" cy="919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one of the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multivalue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datatype in Python i.e. it consists multiple value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By using list, a single variable can able to store multiple value in the form of list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list elements are enclosed in [ ] and separated by comma ‘ , ’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Syntax of list: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var_name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= [ val1 , val2 , val3 , val4 , val5 ]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List is the collection of homogeneous and heterogeneous elements.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Eg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list1 = [ 2 , “Rahul” , 14 , “Thane” , True ]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homogeneous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means elements with same datatype like in above example 2 , 14 both are int.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heterogeneous 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means elements with different datatype like in above example 2 , “Rahul” , True are having different datatypes.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 list we can add multiple values as much as we want.</a:t>
            </a:r>
          </a:p>
          <a:p>
            <a:pPr algn="l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Note: Single Value Datatype =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consists single value stored in single variable 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(int ,float ,bool)</a:t>
            </a:r>
          </a:p>
          <a:p>
            <a:pPr algn="l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Multivalue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Datatype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= consists multiple values stored in single variable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(str, list)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endParaRPr lang="en-US" sz="33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D445E1-7F47-5BB5-48E8-AD5631487A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22330" y="962025"/>
            <a:ext cx="17043340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list of any five students consists name , roll number , age , city , gender , is_disabled (True / False) , is_passed (True, False)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17647" y="3357854"/>
            <a:ext cx="11652706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 Project in Python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076825"/>
            <a:ext cx="17043340" cy="478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Suggestions Of Topics:</a:t>
            </a:r>
          </a:p>
          <a:p>
            <a:pPr algn="just">
              <a:lnSpc>
                <a:spcPts val="4759"/>
              </a:lnSpc>
            </a:pPr>
            <a:endParaRPr lang="en-US" sz="33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Even or Odd Number Checker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Age Calculator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Temperature Converter (°C ↔ °F)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Multiplication Table Generator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Leap Year Checker</a:t>
            </a:r>
          </a:p>
          <a:p>
            <a:pPr marL="0" lvl="0" indent="0" algn="just">
              <a:lnSpc>
                <a:spcPts val="4759"/>
              </a:lnSpc>
              <a:spcBef>
                <a:spcPct val="0"/>
              </a:spcBef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A6B21F-8E46-F07B-B243-7EB460AB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82196" y="2564843"/>
            <a:ext cx="15035289" cy="414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7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WITH MODULE 2 </a:t>
            </a:r>
          </a:p>
          <a:p>
            <a:pPr algn="ctr">
              <a:lnSpc>
                <a:spcPts val="11059"/>
              </a:lnSpc>
            </a:pPr>
            <a:endParaRPr lang="en-US" sz="7899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1059"/>
              </a:lnSpc>
            </a:pPr>
            <a:r>
              <a:rPr lang="en-US" sz="78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DOUBTS ???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59A2F5-FE0B-DB49-1491-3A056C5485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102888" y="1638300"/>
            <a:ext cx="14482564" cy="588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CHAPTER 3</a:t>
            </a: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DESIGNING WITH </a:t>
            </a:r>
          </a:p>
          <a:p>
            <a:pPr algn="ctr">
              <a:lnSpc>
                <a:spcPts val="6509"/>
              </a:lnSpc>
            </a:pPr>
            <a:endParaRPr lang="en-US" sz="6999" u="sng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marL="0" lvl="0" indent="0" algn="ctr">
              <a:lnSpc>
                <a:spcPts val="1546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CANVA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267835-CE6D-5B11-23F4-41CC413823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21746" y="1116360"/>
            <a:ext cx="17444508" cy="5595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Canva is an online graphic design platform that helps users create professional-looking designs easily without advanced design skills. 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offers thousands of ready-made templates for presentations, posters, social media posts, certificates, resumes, brochures, and more. 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Canva uses a simple drag-and-drop interface, making it easy to add text, images, icons, shapes, and other design elements. 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provides a large library of free and premium resources, including photos, illustrations, videos, audio, fonts, and animations. </a:t>
            </a: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Canva includes AI-powered tools such as Magic Write, Magic Design, Background Remover, and Text-to-Image to speed up the design process. </a:t>
            </a:r>
          </a:p>
        </p:txBody>
      </p:sp>
      <p:sp>
        <p:nvSpPr>
          <p:cNvPr id="5" name="Freeform 5"/>
          <p:cNvSpPr/>
          <p:nvPr/>
        </p:nvSpPr>
        <p:spPr>
          <a:xfrm>
            <a:off x="2286000" y="6854855"/>
            <a:ext cx="13630182" cy="3390923"/>
          </a:xfrm>
          <a:custGeom>
            <a:avLst/>
            <a:gdLst/>
            <a:ahLst/>
            <a:cxnLst/>
            <a:rect l="l" t="t" r="r" b="b"/>
            <a:pathLst>
              <a:path w="13630182" h="3390923">
                <a:moveTo>
                  <a:pt x="0" y="0"/>
                </a:moveTo>
                <a:lnTo>
                  <a:pt x="13630182" y="0"/>
                </a:lnTo>
                <a:lnTo>
                  <a:pt x="13630182" y="3390923"/>
                </a:lnTo>
                <a:lnTo>
                  <a:pt x="0" y="3390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5389546" y="165101"/>
            <a:ext cx="8706208" cy="863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INTRODUCTION TO CANVA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D24D9EB-129F-186D-7CA9-594D916C72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46901" cy="10287000"/>
          </a:xfrm>
          <a:custGeom>
            <a:avLst/>
            <a:gdLst/>
            <a:ahLst/>
            <a:cxnLst/>
            <a:rect l="l" t="t" r="r" b="b"/>
            <a:pathLst>
              <a:path w="18246901" h="10287000">
                <a:moveTo>
                  <a:pt x="0" y="0"/>
                </a:moveTo>
                <a:lnTo>
                  <a:pt x="18246901" y="0"/>
                </a:lnTo>
                <a:lnTo>
                  <a:pt x="1824690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6" r="-686" b="-1483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CDDE84-F455-AEAE-A13A-591B7C59EA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5" y="3338350"/>
            <a:ext cx="10287004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1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64577" y="180023"/>
            <a:ext cx="17690687" cy="9990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4350" indent="-514350" algn="l">
              <a:lnSpc>
                <a:spcPts val="4620"/>
              </a:lnSpc>
              <a:spcBef>
                <a:spcPct val="0"/>
              </a:spcBef>
              <a:buAutoNum type="arabicPeriod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Menu Bar: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located at the top of the screen and provides options such as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File, Resize, Undo, Redo, Share, and Download.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2. Toolbar: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Appears above the design page and contains tools for editing text, changing fonts, colors, alignment, spacing, etc.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3. Left Sidebar: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Located on the left side of the screen and gives access to: </a:t>
            </a: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Templates</a:t>
            </a:r>
            <a:endParaRPr lang="en-US" sz="33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Elements </a:t>
            </a:r>
            <a:endParaRPr lang="en-US" sz="33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Text </a:t>
            </a:r>
            <a:endParaRPr lang="en-US" sz="33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Uploads </a:t>
            </a:r>
            <a:endParaRPr lang="en-US" sz="33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Photos &amp;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Videos 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Projects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marL="712472" lvl="1" indent="-356236" algn="l">
              <a:lnSpc>
                <a:spcPts val="462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Apps </a:t>
            </a:r>
            <a:endParaRPr lang="en-US" sz="3300" b="1" dirty="0">
              <a:solidFill>
                <a:srgbClr val="000000"/>
              </a:solidFill>
              <a:latin typeface="Canva Sans"/>
              <a:ea typeface="Canva Sans Bold"/>
              <a:cs typeface="Canva Sans Bold"/>
              <a:sym typeface="Canva Sans"/>
            </a:endParaRPr>
          </a:p>
          <a:p>
            <a:pPr marL="356236" lvl="1"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 </a:t>
            </a: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Canvas Workspace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The large central area where you create and edit your design. You can add, move, resize, rotate, and arrange design elements here. </a:t>
            </a:r>
          </a:p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 </a:t>
            </a:r>
            <a:r>
              <a:rPr lang="en-US" sz="33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Pages Panel:</a:t>
            </a:r>
            <a:r>
              <a:rPr lang="en-US" sz="33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Located below the workspace. And allows you to add, duplicate, delete, or rearrange pages in multi-page designs such as presentations, books, or brochures.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702493-4DAA-3E51-EFCB-4D1C6869A7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5310363" y="147149"/>
            <a:ext cx="8861985" cy="1143667"/>
          </a:xfrm>
          <a:custGeom>
            <a:avLst/>
            <a:gdLst/>
            <a:ahLst/>
            <a:cxnLst/>
            <a:rect l="l" t="t" r="r" b="b"/>
            <a:pathLst>
              <a:path w="8861985" h="1143667">
                <a:moveTo>
                  <a:pt x="0" y="0"/>
                </a:moveTo>
                <a:lnTo>
                  <a:pt x="8861986" y="0"/>
                </a:lnTo>
                <a:lnTo>
                  <a:pt x="8861986" y="1143667"/>
                </a:lnTo>
                <a:lnTo>
                  <a:pt x="0" y="11436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13902" y="1224141"/>
            <a:ext cx="10932210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Magic Media is the AI Tool of Canva 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is used to create images , graphics and video using text provided by user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We can get the Magic Media in left side bar and search image generation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Example: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Prompt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A modern computer lab with students learning coding, rows of desktop computers, LED lights, clean environment, realistic photography, high quality, 4K.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Create your own image and used it in the presentation that we will learn In next slide Topic for Image Generation: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Renewable Energy</a:t>
            </a:r>
          </a:p>
        </p:txBody>
      </p:sp>
      <p:sp>
        <p:nvSpPr>
          <p:cNvPr id="6" name="Freeform 6"/>
          <p:cNvSpPr/>
          <p:nvPr/>
        </p:nvSpPr>
        <p:spPr>
          <a:xfrm>
            <a:off x="12160016" y="3009900"/>
            <a:ext cx="5060045" cy="4887436"/>
          </a:xfrm>
          <a:custGeom>
            <a:avLst/>
            <a:gdLst/>
            <a:ahLst/>
            <a:cxnLst/>
            <a:rect l="l" t="t" r="r" b="b"/>
            <a:pathLst>
              <a:path w="6109903" h="6109903">
                <a:moveTo>
                  <a:pt x="0" y="0"/>
                </a:moveTo>
                <a:lnTo>
                  <a:pt x="6109902" y="0"/>
                </a:lnTo>
                <a:lnTo>
                  <a:pt x="6109902" y="6109903"/>
                </a:lnTo>
                <a:lnTo>
                  <a:pt x="0" y="61099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328914-813F-B589-AF21-ED60DCABCD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16619" y="2017861"/>
            <a:ext cx="12513978" cy="6114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to Generate Presentation in Canva: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on "Create a Design" and choose Presentation or search for a presentation template. 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Select a black ppt Template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Add Content such as titles, text, images, icons, charts, and graphics on each slide. 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Customize the Design by changing colors, fonts, backgrounds to make the presentation attractive. </a:t>
            </a:r>
          </a:p>
          <a:p>
            <a:pPr marL="734059" lvl="1" indent="-367030" algn="l">
              <a:lnSpc>
                <a:spcPts val="4759"/>
              </a:lnSpc>
              <a:spcBef>
                <a:spcPct val="0"/>
              </a:spcBef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Review the Presentation to check for spelling mistakes, formatting, and slide order.</a:t>
            </a:r>
          </a:p>
        </p:txBody>
      </p:sp>
      <p:sp>
        <p:nvSpPr>
          <p:cNvPr id="5" name="Freeform 5"/>
          <p:cNvSpPr/>
          <p:nvPr/>
        </p:nvSpPr>
        <p:spPr>
          <a:xfrm>
            <a:off x="12902701" y="2166171"/>
            <a:ext cx="4806074" cy="6145950"/>
          </a:xfrm>
          <a:custGeom>
            <a:avLst/>
            <a:gdLst/>
            <a:ahLst/>
            <a:cxnLst/>
            <a:rect l="l" t="t" r="r" b="b"/>
            <a:pathLst>
              <a:path w="4806074" h="6145950">
                <a:moveTo>
                  <a:pt x="0" y="0"/>
                </a:moveTo>
                <a:lnTo>
                  <a:pt x="4806074" y="0"/>
                </a:lnTo>
                <a:lnTo>
                  <a:pt x="4806074" y="6145950"/>
                </a:lnTo>
                <a:lnTo>
                  <a:pt x="0" y="6145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672005" y="266700"/>
            <a:ext cx="12315502" cy="9271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Presentation Generation in Canva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4629C0-D214-8657-A40C-EDF0EF001F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952966" y="2569899"/>
            <a:ext cx="13516228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9879641" y="2724801"/>
            <a:ext cx="13516228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304800" y="1121216"/>
            <a:ext cx="8635330" cy="4331831"/>
          </a:xfrm>
          <a:custGeom>
            <a:avLst/>
            <a:gdLst/>
            <a:ahLst/>
            <a:cxnLst/>
            <a:rect l="l" t="t" r="r" b="b"/>
            <a:pathLst>
              <a:path w="8930605" h="4331831">
                <a:moveTo>
                  <a:pt x="0" y="0"/>
                </a:moveTo>
                <a:lnTo>
                  <a:pt x="8930605" y="0"/>
                </a:lnTo>
                <a:lnTo>
                  <a:pt x="8930605" y="4331831"/>
                </a:lnTo>
                <a:lnTo>
                  <a:pt x="0" y="43318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0" r="-4017" b="-93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304800" y="5532960"/>
            <a:ext cx="8635330" cy="4754040"/>
          </a:xfrm>
          <a:custGeom>
            <a:avLst/>
            <a:gdLst/>
            <a:ahLst/>
            <a:cxnLst/>
            <a:rect l="l" t="t" r="r" b="b"/>
            <a:pathLst>
              <a:path w="8930605" h="4754040">
                <a:moveTo>
                  <a:pt x="0" y="0"/>
                </a:moveTo>
                <a:lnTo>
                  <a:pt x="8930605" y="0"/>
                </a:lnTo>
                <a:lnTo>
                  <a:pt x="8930605" y="4754040"/>
                </a:lnTo>
                <a:lnTo>
                  <a:pt x="0" y="4754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2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 rot="-5400000">
            <a:off x="4273910" y="5355479"/>
            <a:ext cx="1168407" cy="744449"/>
            <a:chOff x="0" y="0"/>
            <a:chExt cx="647700" cy="41268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7700" cy="412681"/>
            </a:xfrm>
            <a:custGeom>
              <a:avLst/>
              <a:gdLst/>
              <a:ahLst/>
              <a:cxnLst/>
              <a:rect l="l" t="t" r="r" b="b"/>
              <a:pathLst>
                <a:path w="647700" h="412681">
                  <a:moveTo>
                    <a:pt x="239386" y="165635"/>
                  </a:moveTo>
                  <a:lnTo>
                    <a:pt x="647700" y="165635"/>
                  </a:lnTo>
                  <a:lnTo>
                    <a:pt x="647700" y="247030"/>
                  </a:lnTo>
                  <a:lnTo>
                    <a:pt x="239373" y="247030"/>
                  </a:lnTo>
                  <a:lnTo>
                    <a:pt x="302255" y="412681"/>
                  </a:lnTo>
                  <a:lnTo>
                    <a:pt x="0" y="206341"/>
                  </a:lnTo>
                  <a:lnTo>
                    <a:pt x="302255" y="0"/>
                  </a:lnTo>
                  <a:lnTo>
                    <a:pt x="239386" y="1656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0650" y="127000"/>
              <a:ext cx="527050" cy="1205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901708" y="217048"/>
            <a:ext cx="10484583" cy="778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440"/>
              </a:lnSpc>
              <a:spcBef>
                <a:spcPct val="0"/>
              </a:spcBef>
            </a:pPr>
            <a:r>
              <a:rPr lang="en-US" sz="46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Dynamic QR Code Generation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1229027"/>
            <a:ext cx="8487691" cy="8576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QR stands for Quick Response Code.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is a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2D barcode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that stores information such as 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website links, contact details, text, Wi-Fi passwords, etc.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can be scanned using a smartphone camera or QR scanner.</a:t>
            </a:r>
          </a:p>
          <a:p>
            <a:pPr algn="just">
              <a:lnSpc>
                <a:spcPts val="4759"/>
              </a:lnSpc>
            </a:pPr>
            <a:endParaRPr lang="en-US" sz="33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Steps to Create a Dynamic QR Code: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Open Canva 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 to More → Dynamic QR Codes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Enter the Destination URL 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Give the QR code a Name</a:t>
            </a:r>
          </a:p>
          <a:p>
            <a:pPr marL="734059" lvl="1" indent="-367030" algn="l">
              <a:lnSpc>
                <a:spcPts val="4759"/>
              </a:lnSpc>
              <a:buAutoNum type="arabicPeriod"/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Create to generate the QR code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78229D8-D5EF-F28F-6986-485DDE27334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11065" y="3311061"/>
            <a:ext cx="10287002" cy="3664877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542009" y="3541008"/>
            <a:ext cx="10287002" cy="320498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8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8" y="0"/>
                </a:lnTo>
                <a:lnTo>
                  <a:pt x="13516228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9284065" y="1596272"/>
            <a:ext cx="8535695" cy="6392028"/>
          </a:xfrm>
          <a:custGeom>
            <a:avLst/>
            <a:gdLst/>
            <a:ahLst/>
            <a:cxnLst/>
            <a:rect l="l" t="t" r="r" b="b"/>
            <a:pathLst>
              <a:path w="8535695" h="6392028">
                <a:moveTo>
                  <a:pt x="0" y="0"/>
                </a:moveTo>
                <a:lnTo>
                  <a:pt x="8535695" y="0"/>
                </a:lnTo>
                <a:lnTo>
                  <a:pt x="8535695" y="6392028"/>
                </a:lnTo>
                <a:lnTo>
                  <a:pt x="0" y="63920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30492" y="1207711"/>
            <a:ext cx="8211119" cy="706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</a:p>
          <a:p>
            <a:pPr algn="just">
              <a:lnSpc>
                <a:spcPts val="7000"/>
              </a:lnSpc>
            </a:pPr>
            <a:endParaRPr lang="en-US" sz="5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7000"/>
              </a:lnSpc>
            </a:pPr>
            <a:r>
              <a:rPr lang="en-US" sz="50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Create the presentation on  Renewable Energy and It should look attractive and contain relevant images and content</a:t>
            </a:r>
          </a:p>
          <a:p>
            <a:pPr marL="0" lvl="0" indent="0" algn="just">
              <a:lnSpc>
                <a:spcPts val="7000"/>
              </a:lnSpc>
              <a:spcBef>
                <a:spcPct val="0"/>
              </a:spcBef>
            </a:pPr>
            <a:endParaRPr lang="en-US" sz="50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C31DA9-FC0E-DEDD-DA7E-143AAA6D5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82196" y="2564843"/>
            <a:ext cx="15035289" cy="414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7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WITH MODULE 3</a:t>
            </a:r>
          </a:p>
          <a:p>
            <a:pPr algn="ctr">
              <a:lnSpc>
                <a:spcPts val="11059"/>
              </a:lnSpc>
            </a:pPr>
            <a:endParaRPr lang="en-US" sz="78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1059"/>
              </a:lnSpc>
            </a:pPr>
            <a:r>
              <a:rPr lang="en-US" sz="7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DOUBTS ???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952C5-FA78-7618-DCD8-16BDD23AB7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04848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-10800000">
            <a:off x="12708935" y="0"/>
            <a:ext cx="5579065" cy="6382152"/>
          </a:xfrm>
          <a:custGeom>
            <a:avLst/>
            <a:gdLst/>
            <a:ahLst/>
            <a:cxnLst/>
            <a:rect l="l" t="t" r="r" b="b"/>
            <a:pathLst>
              <a:path w="5579065" h="6382152">
                <a:moveTo>
                  <a:pt x="0" y="0"/>
                </a:moveTo>
                <a:lnTo>
                  <a:pt x="5579065" y="0"/>
                </a:lnTo>
                <a:lnTo>
                  <a:pt x="5579065" y="6382152"/>
                </a:lnTo>
                <a:lnTo>
                  <a:pt x="0" y="6382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5400000">
            <a:off x="-301030" y="301030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0" y="0"/>
                </a:moveTo>
                <a:lnTo>
                  <a:pt x="7768508" y="0"/>
                </a:lnTo>
                <a:lnTo>
                  <a:pt x="7768508" y="7166448"/>
                </a:lnTo>
                <a:lnTo>
                  <a:pt x="0" y="71664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0820522" y="2819522"/>
            <a:ext cx="7768508" cy="7166448"/>
          </a:xfrm>
          <a:custGeom>
            <a:avLst/>
            <a:gdLst/>
            <a:ahLst/>
            <a:cxnLst/>
            <a:rect l="l" t="t" r="r" b="b"/>
            <a:pathLst>
              <a:path w="7768508" h="7166448">
                <a:moveTo>
                  <a:pt x="7768508" y="7166448"/>
                </a:moveTo>
                <a:lnTo>
                  <a:pt x="0" y="7166448"/>
                </a:lnTo>
                <a:lnTo>
                  <a:pt x="0" y="0"/>
                </a:lnTo>
                <a:lnTo>
                  <a:pt x="7768508" y="0"/>
                </a:lnTo>
                <a:lnTo>
                  <a:pt x="7768508" y="7166448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146067" y="1535940"/>
            <a:ext cx="14482564" cy="418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09"/>
              </a:lnSpc>
            </a:pPr>
            <a:r>
              <a:rPr lang="en-US" sz="6999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CHAPTER 4</a:t>
            </a: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endParaRPr lang="en-US" sz="6999" dirty="0">
              <a:solidFill>
                <a:srgbClr val="000000"/>
              </a:solidFill>
              <a:latin typeface="Fraunces"/>
              <a:ea typeface="Fraunces"/>
              <a:cs typeface="Fraunces"/>
              <a:sym typeface="Fraunces"/>
            </a:endParaRPr>
          </a:p>
          <a:p>
            <a:pPr algn="ctr">
              <a:lnSpc>
                <a:spcPts val="6509"/>
              </a:lnSpc>
            </a:pPr>
            <a:r>
              <a:rPr lang="en-US" sz="6999" u="sng" dirty="0">
                <a:solidFill>
                  <a:srgbClr val="000000"/>
                </a:solidFill>
                <a:latin typeface="Fraunces"/>
                <a:ea typeface="Fraunces"/>
                <a:cs typeface="Fraunces"/>
                <a:sym typeface="Fraunces"/>
              </a:rPr>
              <a:t>Cybersecurity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FA28C6-7396-9F88-33E9-9151A936D0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21746" y="1938433"/>
            <a:ext cx="17444508" cy="8887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Cyber refers to anything relating to your smart devices like computers and mobiles including information technology, and virtual reality</a:t>
            </a:r>
          </a:p>
          <a:p>
            <a:pPr marL="647700" lvl="1" indent="-323850">
              <a:lnSpc>
                <a:spcPts val="4200"/>
              </a:lnSpc>
              <a:spcBef>
                <a:spcPct val="0"/>
              </a:spcBef>
              <a:buAutoNum type="arabicPeriod"/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Security means protection against danger, damage, or unauthorized access and hacking.</a:t>
            </a:r>
            <a:b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</a:b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just">
              <a:lnSpc>
                <a:spcPts val="4900"/>
              </a:lnSpc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ACTIVITY:</a:t>
            </a:r>
          </a:p>
          <a:p>
            <a:pPr marL="755651" lvl="1" indent="-377825" algn="just">
              <a:lnSpc>
                <a:spcPts val="4900"/>
              </a:lnSpc>
              <a:buAutoNum type="arabicPeriod"/>
            </a:pPr>
            <a:r>
              <a:rPr lang="en-US" sz="35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Why security is required.</a:t>
            </a:r>
          </a:p>
          <a:p>
            <a:pPr marL="755651" lvl="1" indent="-377825" algn="just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What we can do to secure smart devices</a:t>
            </a:r>
          </a:p>
          <a:p>
            <a:pPr marL="755651" lvl="1" indent="-377825" algn="just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 What will happened if security is low</a:t>
            </a:r>
            <a:endParaRPr lang="en-US" sz="3500" b="1" dirty="0">
              <a:solidFill>
                <a:srgbClr val="000000"/>
              </a:solidFill>
              <a:latin typeface="Arial" panose="020B0604020202020204" pitchFamily="34" charset="0"/>
              <a:ea typeface="Canva Sans Bold"/>
              <a:cs typeface="Arial" panose="020B0604020202020204" pitchFamily="34" charset="0"/>
              <a:sym typeface="Canva Sans"/>
            </a:endParaRPr>
          </a:p>
          <a:p>
            <a:pPr marL="377826" lvl="1" algn="just">
              <a:lnSpc>
                <a:spcPts val="4900"/>
              </a:lnSpc>
            </a:pPr>
            <a:endParaRPr lang="en-US" sz="32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77826" lvl="1" algn="just">
              <a:lnSpc>
                <a:spcPts val="4900"/>
              </a:lnSpc>
            </a:pPr>
            <a:r>
              <a:rPr lang="en-US" sz="3200" b="1" dirty="0">
                <a:latin typeface="Canva Sans Bold"/>
                <a:ea typeface="Canva Sans Bold"/>
                <a:cs typeface="Canva Sans Bold"/>
                <a:sym typeface="Canva Sans Bold"/>
              </a:rPr>
              <a:t>Cybersecurity is the practice of protecting networks, devices, software, and sensitive data from digital attacks, unauthorized access, and damage</a:t>
            </a:r>
          </a:p>
          <a:p>
            <a:pPr marL="377826" lvl="1" algn="just">
              <a:lnSpc>
                <a:spcPts val="4900"/>
              </a:lnSpc>
            </a:pPr>
            <a:endParaRPr lang="en-US" sz="3200" b="1" dirty="0"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377826" lvl="1" algn="just">
              <a:lnSpc>
                <a:spcPts val="4900"/>
              </a:lnSpc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690882" lvl="1" indent="-345441" algn="just">
              <a:lnSpc>
                <a:spcPts val="4480"/>
              </a:lnSpc>
              <a:buAutoNum type="arabicPeriod"/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201023" y="-11593"/>
            <a:ext cx="11885954" cy="10906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9658"/>
              </a:lnSpc>
              <a:spcBef>
                <a:spcPct val="0"/>
              </a:spcBef>
            </a:pPr>
            <a:r>
              <a:rPr lang="en-US" sz="5400" b="1" dirty="0">
                <a:latin typeface="Playpen Sans Bold"/>
                <a:ea typeface="Playpen Sans Bold"/>
                <a:cs typeface="Playpen Sans Bold"/>
                <a:sym typeface="Playpen Sans Bold"/>
              </a:rPr>
              <a:t>Introduction to Cybersecurity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CC8B96-B18E-E5CC-4EA5-39B20A5878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589E6-7D4C-6CD9-C6F1-B5C37B91A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3A9D93-6595-B23A-C496-34602C92D6FA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76A39F9-F3DF-5358-7AA7-3CC1481694A8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5CFB2D5-0C8F-73D1-5438-B555DC6532E1}"/>
              </a:ext>
            </a:extLst>
          </p:cNvPr>
          <p:cNvSpPr txBox="1"/>
          <p:nvPr/>
        </p:nvSpPr>
        <p:spPr>
          <a:xfrm>
            <a:off x="421746" y="1938433"/>
            <a:ext cx="17444508" cy="6954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4200"/>
              </a:lnSpc>
              <a:buAutoNum type="arabicPeriod"/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Fake Link:</a:t>
            </a:r>
          </a:p>
          <a:p>
            <a:pPr algn="just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     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A. Fake link is fraud link which may steal your personal information</a:t>
            </a:r>
          </a:p>
          <a:p>
            <a:pPr algn="just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       B. These kind of links doesn’t contain ‘</a:t>
            </a: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https://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’  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       C. Fake links try to steal your personal data or passwords.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marL="323850" lvl="1"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2. Phishing: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     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A. Phishing is a type of online scam where attackers send fake   </a:t>
            </a:r>
          </a:p>
          <a:p>
            <a:pPr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         messages or links to trick people into sharing personal information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        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B. Phishing messages look real but are created by scammers.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       C. Never click unknown links from WhatsApp/SMS/email.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       D. Always check website URL carefully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Example: </a:t>
            </a:r>
            <a:r>
              <a:rPr lang="en-US" sz="30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“Click here to update your KYC details” → Fake link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A3D36AF-33DF-55BB-9AB2-700B495705ED}"/>
              </a:ext>
            </a:extLst>
          </p:cNvPr>
          <p:cNvSpPr txBox="1"/>
          <p:nvPr/>
        </p:nvSpPr>
        <p:spPr>
          <a:xfrm>
            <a:off x="1714811" y="313780"/>
            <a:ext cx="14858377" cy="655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40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Fake Links, Phishing &amp; Suspicious Messages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DB90BB-0596-1B4F-E167-AF850C7DF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188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EAA0D-AB49-859D-053E-1163CCC81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8DF8545-9184-FAF9-BCD6-24A0868F3C07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5154AA6-6B1E-8BB8-B41C-459C799FEB7A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4D40FD1-9253-AEBB-2DF3-A7A18C4C22E5}"/>
              </a:ext>
            </a:extLst>
          </p:cNvPr>
          <p:cNvSpPr txBox="1"/>
          <p:nvPr/>
        </p:nvSpPr>
        <p:spPr>
          <a:xfrm>
            <a:off x="609600" y="266700"/>
            <a:ext cx="17444508" cy="1064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6"/>
              </a:lnSpc>
              <a:spcBef>
                <a:spcPct val="0"/>
              </a:spcBef>
            </a:pPr>
            <a:r>
              <a:rPr lang="en-US" sz="3904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Types of Online Messages</a:t>
            </a:r>
          </a:p>
          <a:p>
            <a:pPr algn="just">
              <a:lnSpc>
                <a:spcPts val="1366"/>
              </a:lnSpc>
              <a:spcBef>
                <a:spcPct val="0"/>
              </a:spcBef>
            </a:pPr>
            <a:endParaRPr lang="en-US" sz="3904" b="1" dirty="0">
              <a:solidFill>
                <a:srgbClr val="000000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  <a:p>
            <a:pPr>
              <a:lnSpc>
                <a:spcPts val="478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Genuine Messages: </a:t>
            </a:r>
            <a:endParaRPr lang="en-US" sz="3416" b="1" dirty="0">
              <a:solidFill>
                <a:srgbClr val="000000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  <a:p>
            <a:pPr>
              <a:lnSpc>
                <a:spcPts val="4783"/>
              </a:lnSpc>
              <a:spcBef>
                <a:spcPct val="0"/>
              </a:spcBef>
            </a:pP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A. Sent from trusted and official sources like banks, schools, or known companies. </a:t>
            </a:r>
          </a:p>
          <a:p>
            <a:pPr>
              <a:lnSpc>
                <a:spcPts val="4783"/>
              </a:lnSpc>
              <a:spcBef>
                <a:spcPct val="0"/>
              </a:spcBef>
            </a:pP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B. Do not ask for sensitive details like passwords or OTP. </a:t>
            </a:r>
          </a:p>
          <a:p>
            <a:pPr>
              <a:lnSpc>
                <a:spcPts val="4783"/>
              </a:lnSpc>
              <a:spcBef>
                <a:spcPct val="0"/>
              </a:spcBef>
            </a:pP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C. Usually have proper spelling, grammar, and official contact details.</a:t>
            </a:r>
          </a:p>
          <a:p>
            <a:pPr algn="just">
              <a:lnSpc>
                <a:spcPts val="4783"/>
              </a:lnSpc>
              <a:spcBef>
                <a:spcPct val="0"/>
              </a:spcBef>
            </a:pP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D.</a:t>
            </a:r>
            <a:r>
              <a:rPr lang="en-US" sz="3416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 Example: </a:t>
            </a: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Rs. </a:t>
            </a:r>
            <a:r>
              <a:rPr lang="en-US" sz="3416" dirty="0" err="1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xyz</a:t>
            </a:r>
            <a:r>
              <a:rPr lang="en-US" sz="3416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 amount is debited from your account 89xxxxxx12.</a:t>
            </a:r>
          </a:p>
          <a:p>
            <a:pPr algn="just">
              <a:lnSpc>
                <a:spcPts val="4783"/>
              </a:lnSpc>
              <a:spcBef>
                <a:spcPct val="0"/>
              </a:spcBef>
            </a:pPr>
            <a:endParaRPr lang="en-US" sz="3416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Fake Messages: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A. Sent by scammers or unknown people to cheat users.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B. Often ask for OTP, password, or personal details.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C. Contain urgent or attractive offers like “win prize” or “urgent action required”.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D. </a:t>
            </a:r>
            <a:r>
              <a:rPr lang="en-US" sz="32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Example</a:t>
            </a: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: Your account is blocked! Share OTP immediately to unlock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ACTIVITY: Safe Or Unsafe:</a:t>
            </a:r>
          </a:p>
          <a:p>
            <a:pPr marL="669095" lvl="1" indent="-334548">
              <a:lnSpc>
                <a:spcPts val="4338"/>
              </a:lnSpc>
              <a:buAutoNum type="arabicPeriod"/>
            </a:pPr>
            <a:r>
              <a:rPr lang="en-US" sz="3099" dirty="0">
                <a:solidFill>
                  <a:srgbClr val="000000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Sharing OTP with friend → ___</a:t>
            </a:r>
          </a:p>
          <a:p>
            <a:pPr marL="669095" lvl="1" indent="-334548">
              <a:lnSpc>
                <a:spcPts val="4338"/>
              </a:lnSpc>
              <a:buAutoNum type="arabicPeriod"/>
            </a:pPr>
            <a:r>
              <a:rPr lang="en-US" sz="3099" dirty="0">
                <a:solidFill>
                  <a:srgbClr val="000000"/>
                </a:solidFill>
                <a:latin typeface="Arial" panose="020B0604020202020204" pitchFamily="34" charset="0"/>
                <a:ea typeface="Canva Sans"/>
                <a:cs typeface="Arial" panose="020B0604020202020204" pitchFamily="34" charset="0"/>
                <a:sym typeface="Canva Sans"/>
              </a:rPr>
              <a:t>Login with password + OTP → ___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algn="just">
              <a:lnSpc>
                <a:spcPts val="4783"/>
              </a:lnSpc>
              <a:spcBef>
                <a:spcPct val="0"/>
              </a:spcBef>
            </a:pPr>
            <a:endParaRPr lang="en-US" sz="3416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CA16F-1625-EE82-CA2B-6CDB9B18EF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79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5C70-B4FD-01E1-1DBF-E351507B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1166FB-D4EF-08A8-8620-9CEEE62F5E55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404B6DA-EDF1-B966-1861-3F45502E4E2E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5223D8D-2C3D-F2BC-62EB-CF65E01C4176}"/>
              </a:ext>
            </a:extLst>
          </p:cNvPr>
          <p:cNvSpPr txBox="1"/>
          <p:nvPr/>
        </p:nvSpPr>
        <p:spPr>
          <a:xfrm>
            <a:off x="609600" y="266700"/>
            <a:ext cx="17444508" cy="9617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66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000000"/>
                </a:solidFill>
                <a:latin typeface="Playpen Sans Bold"/>
                <a:ea typeface="Playpen Sans Bold"/>
                <a:cs typeface="Playpen Sans Bold"/>
                <a:sym typeface="Playpen Sans Bold"/>
              </a:rPr>
              <a:t>Safe Password and account safety</a:t>
            </a:r>
          </a:p>
          <a:p>
            <a:pPr algn="just">
              <a:lnSpc>
                <a:spcPts val="1366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Playpen Sans Bold"/>
              <a:ea typeface="Playpen Sans Bold"/>
              <a:cs typeface="Playpen Sans Bold"/>
              <a:sym typeface="Playpen Sans Bold"/>
            </a:endParaRPr>
          </a:p>
          <a:p>
            <a:pPr marL="755651" lvl="1" indent="-377825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Use strong passwords with letters, numbers, and symbols.</a:t>
            </a:r>
          </a:p>
          <a:p>
            <a:pPr marL="755651" lvl="1" indent="-377825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Never share your password with anyone.</a:t>
            </a:r>
          </a:p>
          <a:p>
            <a:pPr marL="755651" lvl="1" indent="-377825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Change password regularly for safety.</a:t>
            </a:r>
          </a:p>
          <a:p>
            <a:pPr marL="755651" lvl="1" indent="-377825">
              <a:lnSpc>
                <a:spcPts val="4900"/>
              </a:lnSpc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Use different passwords for different accounts.</a:t>
            </a:r>
          </a:p>
          <a:p>
            <a:pPr marL="755651" lvl="1" indent="-377825">
              <a:lnSpc>
                <a:spcPts val="4900"/>
              </a:lnSpc>
              <a:buFont typeface="Arial"/>
              <a:buChar char="•"/>
            </a:pPr>
            <a:r>
              <a:rPr lang="en-US" sz="3500" b="1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Example Password</a:t>
            </a: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: 123456 = Risky Password</a:t>
            </a:r>
          </a:p>
          <a:p>
            <a:pPr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                           S@f3@2026 = Safe Password</a:t>
            </a:r>
          </a:p>
          <a:p>
            <a:pPr>
              <a:lnSpc>
                <a:spcPts val="4900"/>
              </a:lnSpc>
            </a:pPr>
            <a:endParaRPr lang="en-US" sz="3500" dirty="0">
              <a:solidFill>
                <a:srgbClr val="000000"/>
              </a:solidFill>
              <a:ea typeface="Playpen Sans"/>
              <a:cs typeface="Arial" panose="020B0604020202020204" pitchFamily="34" charset="0"/>
              <a:sym typeface="Playpen Sans"/>
            </a:endParaRPr>
          </a:p>
          <a:p>
            <a:pPr lvl="0">
              <a:lnSpc>
                <a:spcPts val="49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ea typeface="Playpen Sans Bold"/>
                <a:cs typeface="Playpen Sans Bold"/>
                <a:sym typeface="Playpen Sans Bold"/>
              </a:rPr>
              <a:t>Activity : Write Yes or No</a:t>
            </a:r>
          </a:p>
          <a:p>
            <a:pPr marL="755651" lvl="1" indent="-377825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Password: R@huL#2026 → ______</a:t>
            </a:r>
          </a:p>
          <a:p>
            <a:pPr marL="755651" lvl="1" indent="-377825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Password: 123456 → ______</a:t>
            </a:r>
          </a:p>
          <a:p>
            <a:pPr marL="755651" lvl="1" indent="-377825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Using same password for all apps → ______</a:t>
            </a:r>
          </a:p>
          <a:p>
            <a:pPr marL="755651" lvl="1" indent="-377825">
              <a:lnSpc>
                <a:spcPts val="4900"/>
              </a:lnSpc>
              <a:buAutoNum type="arabicPeriod"/>
            </a:pPr>
            <a:r>
              <a:rPr lang="en-US" sz="3500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Changing password regularly → ______</a:t>
            </a:r>
          </a:p>
          <a:p>
            <a:pPr>
              <a:lnSpc>
                <a:spcPts val="4900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algn="just">
              <a:lnSpc>
                <a:spcPts val="4783"/>
              </a:lnSpc>
              <a:spcBef>
                <a:spcPct val="0"/>
              </a:spcBef>
            </a:pPr>
            <a:endParaRPr lang="en-US" sz="35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EF636-C7FF-0D9C-2D59-EDD8BB8A6A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414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B5A4-FE77-B938-8E34-BDEDFF7A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16C197-E3E2-D9C9-72CE-EAFF5D1A33C1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9F17850-5D16-7F8E-75B0-0B40CFECFBD5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4F6A83B-BF53-D2FE-6C6B-402F5B056990}"/>
              </a:ext>
            </a:extLst>
          </p:cNvPr>
          <p:cNvSpPr txBox="1"/>
          <p:nvPr/>
        </p:nvSpPr>
        <p:spPr>
          <a:xfrm>
            <a:off x="685800" y="621783"/>
            <a:ext cx="18540586" cy="85550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216" lvl="1">
              <a:lnSpc>
                <a:spcPts val="5605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00000"/>
                </a:solidFill>
                <a:latin typeface="Arial" panose="020B0604020202020204" pitchFamily="34" charset="0"/>
                <a:ea typeface="Playpen Sans Bold"/>
                <a:cs typeface="Arial" panose="020B0604020202020204" pitchFamily="34" charset="0"/>
                <a:sym typeface="Playpen Sans Bold"/>
              </a:rPr>
              <a:t>Reporting &amp; Responding to Online Fraud</a:t>
            </a:r>
          </a:p>
          <a:p>
            <a:pPr marL="432216" lvl="1">
              <a:lnSpc>
                <a:spcPts val="5605"/>
              </a:lnSpc>
              <a:spcBef>
                <a:spcPct val="0"/>
              </a:spcBef>
            </a:pPr>
            <a:endParaRPr lang="en-US" sz="4003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Block and report suspicious accounts immediately.</a:t>
            </a: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Inform parents or teachers if something looks wrong.</a:t>
            </a: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Use “Report” option on WhatsApp, Instagram, Facebook.</a:t>
            </a: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Save proof like screenshots before deleting.</a:t>
            </a: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r>
              <a:rPr lang="en-US" sz="4003" b="1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Example: </a:t>
            </a: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Unknown message asking money → Report + Block</a:t>
            </a:r>
          </a:p>
          <a:p>
            <a:pPr marL="864433" lvl="1" indent="-432217">
              <a:lnSpc>
                <a:spcPts val="5605"/>
              </a:lnSpc>
              <a:spcBef>
                <a:spcPct val="0"/>
              </a:spcBef>
              <a:buFont typeface="Arial"/>
              <a:buChar char="•"/>
            </a:pPr>
            <a:endParaRPr lang="en-US" sz="4003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marL="432216" lvl="1">
              <a:lnSpc>
                <a:spcPts val="5605"/>
              </a:lnSpc>
              <a:spcBef>
                <a:spcPct val="0"/>
              </a:spcBef>
            </a:pPr>
            <a:r>
              <a:rPr lang="en-US" sz="4003" b="1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ACTIVITY:</a:t>
            </a:r>
          </a:p>
          <a:p>
            <a:pPr marL="1003716" lvl="1" indent="-5715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What is </a:t>
            </a:r>
            <a:r>
              <a:rPr lang="en-US" sz="4003" dirty="0" err="1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Truecaller</a:t>
            </a:r>
            <a:endParaRPr lang="en-US" sz="4003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  <a:p>
            <a:pPr marL="1003716" lvl="1" indent="-5715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What is Antivirus with example</a:t>
            </a:r>
          </a:p>
          <a:p>
            <a:pPr marL="1003716" lvl="1" indent="-5715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4003" dirty="0">
                <a:solidFill>
                  <a:srgbClr val="000000"/>
                </a:solidFill>
                <a:latin typeface="Arial" panose="020B0604020202020204" pitchFamily="34" charset="0"/>
                <a:ea typeface="Playpen Sans"/>
                <a:cs typeface="Arial" panose="020B0604020202020204" pitchFamily="34" charset="0"/>
                <a:sym typeface="Playpen Sans"/>
              </a:rPr>
              <a:t>Do you report or block any phone number or website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913DE-0F86-7C78-1336-C50D3FD6AB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5532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400A-ECBD-629D-D66A-E2A38124E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23DECA-815F-2A38-7AEE-B6ED5E25FBED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BBF58A7-F5FD-FCDF-AA05-51FF63752509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BF74CBC-38D4-FE60-561F-A16E02F068E1}"/>
              </a:ext>
            </a:extLst>
          </p:cNvPr>
          <p:cNvSpPr txBox="1"/>
          <p:nvPr/>
        </p:nvSpPr>
        <p:spPr>
          <a:xfrm>
            <a:off x="59986" y="440653"/>
            <a:ext cx="18540586" cy="9274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216" lvl="1">
              <a:lnSpc>
                <a:spcPts val="5605"/>
              </a:lnSpc>
              <a:spcBef>
                <a:spcPct val="0"/>
              </a:spcBef>
            </a:pPr>
            <a:r>
              <a:rPr lang="en-IN" sz="4500" b="1" dirty="0"/>
              <a:t>Trojan Horse: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 Trojan Horse is a malware that looks like a safe program.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It tricks the user into installing it on their system.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Once installed, it can steal data or give control to hackers.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It does not spread by itself like a worm.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Always download software from trusted sources to avoid Trojans.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IN" sz="3500" dirty="0"/>
          </a:p>
          <a:p>
            <a:pPr marL="432216" lvl="1" algn="just">
              <a:lnSpc>
                <a:spcPts val="5605"/>
              </a:lnSpc>
              <a:spcBef>
                <a:spcPct val="0"/>
              </a:spcBef>
            </a:pPr>
            <a:r>
              <a:rPr lang="en-IN" sz="4500" b="1" dirty="0">
                <a:solidFill>
                  <a:srgbClr val="000000"/>
                </a:solidFill>
                <a:ea typeface="Playpen Sans"/>
                <a:cs typeface="Arial" panose="020B0604020202020204" pitchFamily="34" charset="0"/>
                <a:sym typeface="Playpen Sans"/>
              </a:rPr>
              <a:t>Keylogger: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 keylogger is a software or device that records everything you type.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Hackers use it to steal passwords, messages, and personal info.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It works silently in the background without the user knowing.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Keyloggers can be installed through malware or unsafe downloads. </a:t>
            </a:r>
          </a:p>
          <a:p>
            <a:pPr marL="1118016" lvl="1" indent="-685800" algn="just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Anti-virus and anti-spyware tools help to detect and remove keyloggers.</a:t>
            </a:r>
            <a:endParaRPr lang="en-US" sz="3500" dirty="0">
              <a:solidFill>
                <a:srgbClr val="000000"/>
              </a:solidFill>
              <a:ea typeface="Playpen Sans"/>
              <a:cs typeface="Arial" panose="020B0604020202020204" pitchFamily="34" charset="0"/>
              <a:sym typeface="Play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D83A7-8790-1650-1AA1-9E83AC7D3B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50A65FE-2949-AA70-E8A2-621DB0291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7651" y="1469782"/>
            <a:ext cx="3460097" cy="34451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6DA51F1-ACFC-A3A9-3B66-0D20925404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08253" y="6210300"/>
            <a:ext cx="3449495" cy="3008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2329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31D97-88D2-2E85-306F-A122AFE6D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D99F46-8FB1-D430-0B8E-1E04AAE25720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FE4BF7-C67F-4BA4-A601-9BA356D85070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6C00F75-97E8-B399-3A5A-6FEB9DA10BDC}"/>
              </a:ext>
            </a:extLst>
          </p:cNvPr>
          <p:cNvSpPr txBox="1"/>
          <p:nvPr/>
        </p:nvSpPr>
        <p:spPr>
          <a:xfrm>
            <a:off x="204707" y="380822"/>
            <a:ext cx="14782800" cy="4670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216" lvl="1">
              <a:lnSpc>
                <a:spcPts val="5605"/>
              </a:lnSpc>
              <a:spcBef>
                <a:spcPct val="0"/>
              </a:spcBef>
            </a:pPr>
            <a:r>
              <a:rPr lang="en-IN" sz="4500" b="1" dirty="0"/>
              <a:t>Botnet:</a:t>
            </a:r>
          </a:p>
          <a:p>
            <a:pPr marL="889416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 botnet is a group of infected computers controlled by a hacker.</a:t>
            </a:r>
          </a:p>
          <a:p>
            <a:pPr marL="889416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Each infected computer is called a "bot“.</a:t>
            </a:r>
          </a:p>
          <a:p>
            <a:pPr marL="889416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Hackers use botnets to do big cyber attacks like DDoS. </a:t>
            </a:r>
          </a:p>
          <a:p>
            <a:pPr marL="889416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Users usually don’t know their computer is part of a botnet. </a:t>
            </a:r>
          </a:p>
          <a:p>
            <a:pPr marL="889416" lvl="1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3500" dirty="0"/>
              <a:t>Antivirus and firewalls help to prevent botnet infections.</a:t>
            </a:r>
            <a:endParaRPr lang="en-US" sz="35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4879B-8EF4-C6DC-4983-7F4971633C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4DC0FD-FE9D-299B-9D53-A01DC9A66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5477" y="1773689"/>
            <a:ext cx="3609975" cy="36385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9BB0FD-D8E4-E2C9-A4AA-8A0EAA61E8D1}"/>
              </a:ext>
            </a:extLst>
          </p:cNvPr>
          <p:cNvSpPr txBox="1"/>
          <p:nvPr/>
        </p:nvSpPr>
        <p:spPr>
          <a:xfrm>
            <a:off x="609600" y="5235413"/>
            <a:ext cx="16219700" cy="474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500" b="1" dirty="0"/>
              <a:t>DOS Attack: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A DoS (Denial of Service) attack floods a website or server with too much traffic.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The goal is to slow down or crash the system, making it unusable.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It denies service to real users by overloading the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It is done using one computer or source.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Firewalls and monitoring tools help to detect and block DoS attacks.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C90F953-E06E-375E-1C90-4D40E1022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18397" y="7048500"/>
            <a:ext cx="3200400" cy="2686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7469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294C-A296-97F5-1357-B65ABA28F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0F5FAE-635F-4B98-5B99-B5BA8F60A226}"/>
              </a:ext>
            </a:extLst>
          </p:cNvPr>
          <p:cNvSpPr/>
          <p:nvPr/>
        </p:nvSpPr>
        <p:spPr>
          <a:xfrm rot="5400000">
            <a:off x="-3338354" y="3338351"/>
            <a:ext cx="10287003" cy="3610299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91A17EA-20F7-25FC-578F-16B5E12D67A9}"/>
              </a:ext>
            </a:extLst>
          </p:cNvPr>
          <p:cNvSpPr/>
          <p:nvPr/>
        </p:nvSpPr>
        <p:spPr>
          <a:xfrm rot="5400000" flipH="1" flipV="1">
            <a:off x="11494254" y="3493253"/>
            <a:ext cx="10287002" cy="3300496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68538FE-D403-DFE4-B179-BAB8B356DE81}"/>
              </a:ext>
            </a:extLst>
          </p:cNvPr>
          <p:cNvSpPr txBox="1"/>
          <p:nvPr/>
        </p:nvSpPr>
        <p:spPr>
          <a:xfrm>
            <a:off x="228600" y="800100"/>
            <a:ext cx="12573000" cy="85860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2216" lvl="1">
              <a:lnSpc>
                <a:spcPts val="5605"/>
              </a:lnSpc>
              <a:spcBef>
                <a:spcPct val="0"/>
              </a:spcBef>
            </a:pPr>
            <a:r>
              <a:rPr lang="en-IN" sz="5500" b="1" dirty="0"/>
              <a:t>DDOS Attack:</a:t>
            </a:r>
          </a:p>
          <a:p>
            <a:pPr marL="432216" lvl="1">
              <a:lnSpc>
                <a:spcPts val="5605"/>
              </a:lnSpc>
              <a:spcBef>
                <a:spcPct val="0"/>
              </a:spcBef>
            </a:pPr>
            <a:endParaRPr lang="en-IN" sz="5500" b="1" dirty="0"/>
          </a:p>
          <a:p>
            <a:pPr marL="1118016" lvl="1" indent="-6858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4500" dirty="0"/>
              <a:t>A DDoS (Distributed Denial of Service) attack uses multiple computers to flood a server or website.</a:t>
            </a:r>
          </a:p>
          <a:p>
            <a:pPr marL="1118016" lvl="1" indent="-6858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4500" dirty="0"/>
              <a:t>These computers are often part of a botnet controlled by a hacker. </a:t>
            </a:r>
          </a:p>
          <a:p>
            <a:pPr marL="1118016" lvl="1" indent="-6858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4500" dirty="0"/>
              <a:t>It makes the system crash or become very slow. </a:t>
            </a:r>
          </a:p>
          <a:p>
            <a:pPr marL="1118016" lvl="1" indent="-6858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4500" dirty="0"/>
              <a:t>It is stronger than a normal DoS attack because it comes from many sources. </a:t>
            </a:r>
          </a:p>
          <a:p>
            <a:pPr marL="1118016" lvl="1" indent="-685800">
              <a:lnSpc>
                <a:spcPts val="5605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N" sz="4500" dirty="0"/>
              <a:t>DDoS attacks are hard to stop and need advanced security tools. </a:t>
            </a:r>
            <a:endParaRPr lang="en-US" sz="4500" dirty="0">
              <a:solidFill>
                <a:srgbClr val="000000"/>
              </a:solidFill>
              <a:latin typeface="Arial" panose="020B0604020202020204" pitchFamily="34" charset="0"/>
              <a:ea typeface="Playpen Sans"/>
              <a:cs typeface="Arial" panose="020B0604020202020204" pitchFamily="34" charset="0"/>
              <a:sym typeface="Playpen San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B77DDA-3FF9-15E6-CCFA-7BAD47C241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C29BAE-330B-0C91-9432-F1908B04B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5533" y="2628900"/>
            <a:ext cx="50359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08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32654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0" y="0"/>
                </a:moveTo>
                <a:lnTo>
                  <a:pt x="13516229" y="0"/>
                </a:lnTo>
                <a:lnTo>
                  <a:pt x="13516229" y="3969675"/>
                </a:lnTo>
                <a:lnTo>
                  <a:pt x="0" y="39696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rot="5400000" flipH="1" flipV="1">
            <a:off x="10214229" y="2390211"/>
            <a:ext cx="13516228" cy="3969675"/>
          </a:xfrm>
          <a:custGeom>
            <a:avLst/>
            <a:gdLst/>
            <a:ahLst/>
            <a:cxnLst/>
            <a:rect l="l" t="t" r="r" b="b"/>
            <a:pathLst>
              <a:path w="13516228" h="3969675">
                <a:moveTo>
                  <a:pt x="13516229" y="3969675"/>
                </a:moveTo>
                <a:lnTo>
                  <a:pt x="0" y="3969675"/>
                </a:lnTo>
                <a:lnTo>
                  <a:pt x="0" y="0"/>
                </a:lnTo>
                <a:lnTo>
                  <a:pt x="13516229" y="0"/>
                </a:lnTo>
                <a:lnTo>
                  <a:pt x="13516229" y="3969675"/>
                </a:lnTo>
                <a:close/>
              </a:path>
            </a:pathLst>
          </a:custGeom>
          <a:blipFill>
            <a:blip r:embed="rId2"/>
            <a:stretch>
              <a:fillRect t="-214099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782196" y="2564843"/>
            <a:ext cx="15035289" cy="4142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59"/>
              </a:lnSpc>
            </a:pPr>
            <a:r>
              <a:rPr lang="en-US" sz="7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DONE WITH MODULE 4</a:t>
            </a:r>
          </a:p>
          <a:p>
            <a:pPr algn="ctr">
              <a:lnSpc>
                <a:spcPts val="11059"/>
              </a:lnSpc>
            </a:pPr>
            <a:endParaRPr lang="en-US" sz="7899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11059"/>
              </a:lnSpc>
            </a:pPr>
            <a:r>
              <a:rPr lang="en-US" sz="78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ANY DOUBTS ???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5B3FA0-7519-D7D3-26F8-BC9AFEE3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6" t="1865" r="4023" b="3588"/>
          <a:stretch>
            <a:fillRect/>
          </a:stretch>
        </p:blipFill>
        <p:spPr>
          <a:xfrm>
            <a:off x="16585452" y="-4769"/>
            <a:ext cx="1702548" cy="11858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4993</Words>
  <Application>Microsoft Office PowerPoint</Application>
  <PresentationFormat>Custom</PresentationFormat>
  <Paragraphs>593</Paragraphs>
  <Slides>64</Slides>
  <Notes>3</Notes>
  <HiddenSlides>0</HiddenSlides>
  <MMClips>1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7" baseType="lpstr">
      <vt:lpstr>Playpen Sans</vt:lpstr>
      <vt:lpstr>Aptos</vt:lpstr>
      <vt:lpstr>Fraunces</vt:lpstr>
      <vt:lpstr>Fraunces Bold</vt:lpstr>
      <vt:lpstr>Canva Sans Bold</vt:lpstr>
      <vt:lpstr>Calibri</vt:lpstr>
      <vt:lpstr>Wingdings</vt:lpstr>
      <vt:lpstr>Playpen Sans Bold</vt:lpstr>
      <vt:lpstr>Arial</vt:lpstr>
      <vt:lpstr>Canva Sans</vt:lpstr>
      <vt:lpstr>Office Theme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</dc:title>
  <cp:lastModifiedBy>smartbyte</cp:lastModifiedBy>
  <cp:revision>22</cp:revision>
  <dcterms:created xsi:type="dcterms:W3CDTF">2006-08-16T00:00:00Z</dcterms:created>
  <dcterms:modified xsi:type="dcterms:W3CDTF">2026-07-04T07:41:37Z</dcterms:modified>
  <dc:identifier>DAHNYdYqvJs</dc:identifier>
</cp:coreProperties>
</file>